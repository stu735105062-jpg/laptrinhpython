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894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Shape 1"/>
          <p:cNvSpPr/>
          <p:nvPr/>
        </p:nvSpPr>
        <p:spPr>
          <a:xfrm>
            <a:off x="5943600" y="0"/>
            <a:ext cx="3200400" cy="5143500"/>
          </a:xfrm>
          <a:prstGeom prst="rect">
            <a:avLst/>
          </a:prstGeom>
          <a:solidFill>
            <a:srgbClr val="15304F"/>
          </a:solidFill>
          <a:ln w="12700">
            <a:solidFill>
              <a:srgbClr val="15304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 name="Shape 2"/>
          <p:cNvSpPr/>
          <p:nvPr/>
        </p:nvSpPr>
        <p:spPr>
          <a:xfrm>
            <a:off x="6400800" y="0"/>
            <a:ext cx="2743200" cy="5143500"/>
          </a:xfrm>
          <a:prstGeom prst="rect">
            <a:avLst/>
          </a:prstGeom>
          <a:solidFill>
            <a:srgbClr val="0F2540"/>
          </a:solidFill>
          <a:ln w="12700">
            <a:solidFill>
              <a:srgbClr val="0F254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457200" y="1005840"/>
            <a:ext cx="5486400" cy="822960"/>
          </a:xfrm>
          <a:prstGeom prst="rect">
            <a:avLst/>
          </a:prstGeom>
          <a:noFill/>
          <a:ln/>
        </p:spPr>
        <p:txBody>
          <a:bodyPr wrap="square" lIns="0" tIns="0" rIns="0" bIns="0" rtlCol="0" anchor="ctr"/>
          <a:lstStyle/>
          <a:p>
            <a:pPr marL="0" indent="0" algn="l">
              <a:buNone/>
            </a:pPr>
            <a:r>
              <a:rPr lang="en-US" sz="4000" b="1" dirty="0">
                <a:solidFill>
                  <a:srgbClr val="FFFFFF"/>
                </a:solidFill>
                <a:latin typeface="Times New Roman" panose="02020603050405020304" pitchFamily="18" charset="0"/>
                <a:ea typeface="Calibri" pitchFamily="34" charset="-122"/>
                <a:cs typeface="Times New Roman" panose="02020603050405020304" pitchFamily="18" charset="0"/>
              </a:rPr>
              <a:t>Quản Lý Công Việc</a:t>
            </a:r>
            <a:endParaRPr lang="en-US" sz="4000" dirty="0">
              <a:latin typeface="Times New Roman" panose="02020603050405020304" pitchFamily="18" charset="0"/>
              <a:cs typeface="Times New Roman" panose="02020603050405020304" pitchFamily="18" charset="0"/>
            </a:endParaRPr>
          </a:p>
        </p:txBody>
      </p:sp>
      <p:sp>
        <p:nvSpPr>
          <p:cNvPr id="6" name="Text 4"/>
          <p:cNvSpPr/>
          <p:nvPr/>
        </p:nvSpPr>
        <p:spPr>
          <a:xfrm>
            <a:off x="457200" y="1783080"/>
            <a:ext cx="5486400" cy="777240"/>
          </a:xfrm>
          <a:prstGeom prst="rect">
            <a:avLst/>
          </a:prstGeom>
          <a:noFill/>
          <a:ln/>
        </p:spPr>
        <p:txBody>
          <a:bodyPr wrap="square" lIns="0" tIns="0" rIns="0" bIns="0" rtlCol="0" anchor="ctr"/>
          <a:lstStyle/>
          <a:p>
            <a:pPr marL="0" indent="0" algn="l">
              <a:buNone/>
            </a:pPr>
            <a:r>
              <a:rPr lang="en-US" sz="4000" b="1" dirty="0">
                <a:solidFill>
                  <a:srgbClr val="14B8A6"/>
                </a:solidFill>
                <a:latin typeface="Times New Roman" panose="02020603050405020304" pitchFamily="18" charset="0"/>
                <a:ea typeface="Calibri" pitchFamily="34" charset="-122"/>
                <a:cs typeface="Times New Roman" panose="02020603050405020304" pitchFamily="18" charset="0"/>
              </a:rPr>
              <a:t>Chuyên Nghiệp</a:t>
            </a:r>
            <a:endParaRPr lang="en-US" sz="4000" dirty="0">
              <a:latin typeface="Times New Roman" panose="02020603050405020304" pitchFamily="18" charset="0"/>
              <a:cs typeface="Times New Roman" panose="02020603050405020304" pitchFamily="18" charset="0"/>
            </a:endParaRPr>
          </a:p>
        </p:txBody>
      </p:sp>
      <p:sp>
        <p:nvSpPr>
          <p:cNvPr id="7" name="Text 5"/>
          <p:cNvSpPr/>
          <p:nvPr/>
        </p:nvSpPr>
        <p:spPr>
          <a:xfrm>
            <a:off x="457200" y="2743200"/>
            <a:ext cx="5486400" cy="411480"/>
          </a:xfrm>
          <a:prstGeom prst="rect">
            <a:avLst/>
          </a:prstGeom>
          <a:noFill/>
          <a:ln/>
        </p:spPr>
        <p:txBody>
          <a:bodyPr wrap="square" lIns="0" tIns="0" rIns="0" bIns="0" rtlCol="0" anchor="ctr"/>
          <a:lstStyle/>
          <a:p>
            <a:pPr marL="0" indent="0" algn="l">
              <a:buNone/>
            </a:pPr>
            <a:r>
              <a:rPr lang="en-US" sz="1600" dirty="0">
                <a:solidFill>
                  <a:srgbClr val="E2E8F0"/>
                </a:solidFill>
                <a:latin typeface="Times New Roman" panose="02020603050405020304" pitchFamily="18" charset="0"/>
                <a:ea typeface="Calibri" pitchFamily="34" charset="-122"/>
                <a:cs typeface="Times New Roman" panose="02020603050405020304" pitchFamily="18" charset="0"/>
              </a:rPr>
              <a:t>Ứng dụng Python với Tkinter và SQLite</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457200" y="3291840"/>
            <a:ext cx="5486400" cy="320040"/>
          </a:xfrm>
          <a:prstGeom prst="rect">
            <a:avLst/>
          </a:prstGeom>
          <a:noFill/>
          <a:ln/>
        </p:spPr>
        <p:txBody>
          <a:bodyPr wrap="square" lIns="0" tIns="0" rIns="0" bIns="0" rtlCol="0" anchor="ctr"/>
          <a:lstStyle/>
          <a:p>
            <a:pPr marL="0" indent="0" algn="l">
              <a:buNone/>
            </a:pPr>
            <a:r>
              <a:rPr lang="en-US" sz="1300" dirty="0">
                <a:solidFill>
                  <a:srgbClr val="64748B"/>
                </a:solidFill>
                <a:latin typeface="Times New Roman" panose="02020603050405020304" pitchFamily="18" charset="0"/>
                <a:ea typeface="Calibri" pitchFamily="34" charset="-122"/>
                <a:cs typeface="Times New Roman" panose="02020603050405020304" pitchFamily="18" charset="0"/>
              </a:rPr>
              <a:t>Nguyễn Bá Lương  ·  Nguyễn Trung Sơn</a:t>
            </a:r>
            <a:endParaRPr lang="en-US" sz="1300" dirty="0">
              <a:latin typeface="Times New Roman" panose="02020603050405020304" pitchFamily="18" charset="0"/>
              <a:cs typeface="Times New Roman" panose="02020603050405020304" pitchFamily="18" charset="0"/>
            </a:endParaRPr>
          </a:p>
        </p:txBody>
      </p:sp>
      <p:sp>
        <p:nvSpPr>
          <p:cNvPr id="9" name="Text 7"/>
          <p:cNvSpPr/>
          <p:nvPr/>
        </p:nvSpPr>
        <p:spPr>
          <a:xfrm>
            <a:off x="457200" y="3611880"/>
            <a:ext cx="5486400" cy="320040"/>
          </a:xfrm>
          <a:prstGeom prst="rect">
            <a:avLst/>
          </a:prstGeom>
          <a:noFill/>
          <a:ln/>
        </p:spPr>
        <p:txBody>
          <a:bodyPr wrap="square" lIns="0" tIns="0" rIns="0" bIns="0" rtlCol="0" anchor="ctr"/>
          <a:lstStyle/>
          <a:p>
            <a:pPr marL="0" indent="0" algn="l">
              <a:buNone/>
            </a:pPr>
            <a:r>
              <a:rPr lang="en-US" sz="1300" dirty="0">
                <a:solidFill>
                  <a:srgbClr val="64748B"/>
                </a:solidFill>
                <a:latin typeface="Times New Roman" panose="02020603050405020304" pitchFamily="18" charset="0"/>
                <a:ea typeface="Calibri" pitchFamily="34" charset="-122"/>
                <a:cs typeface="Times New Roman" panose="02020603050405020304" pitchFamily="18" charset="0"/>
              </a:rPr>
              <a:t>23/04/2026</a:t>
            </a:r>
            <a:endParaRPr lang="en-US" sz="1300" dirty="0">
              <a:latin typeface="Times New Roman" panose="02020603050405020304" pitchFamily="18" charset="0"/>
              <a:cs typeface="Times New Roman" panose="02020603050405020304" pitchFamily="18" charset="0"/>
            </a:endParaRPr>
          </a:p>
        </p:txBody>
      </p:sp>
      <p:sp>
        <p:nvSpPr>
          <p:cNvPr id="10" name="Shape 8"/>
          <p:cNvSpPr/>
          <p:nvPr/>
        </p:nvSpPr>
        <p:spPr>
          <a:xfrm>
            <a:off x="6537960" y="731520"/>
            <a:ext cx="2194560" cy="457200"/>
          </a:xfrm>
          <a:prstGeom prst="roundRect">
            <a:avLst>
              <a:gd name="adj" fmla="val 16000"/>
            </a:avLst>
          </a:prstGeom>
          <a:solidFill>
            <a:srgbClr val="0D9488">
              <a:alpha val="40000"/>
            </a:srgbClr>
          </a:solidFill>
          <a:ln w="12700">
            <a:solidFill>
              <a:srgbClr val="14B8A6"/>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9"/>
          <p:cNvSpPr/>
          <p:nvPr/>
        </p:nvSpPr>
        <p:spPr>
          <a:xfrm>
            <a:off x="6537960" y="731520"/>
            <a:ext cx="2194560" cy="457200"/>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Python</a:t>
            </a:r>
            <a:endParaRPr lang="en-US" sz="1300" dirty="0">
              <a:latin typeface="Times New Roman" panose="02020603050405020304" pitchFamily="18" charset="0"/>
              <a:cs typeface="Times New Roman" panose="02020603050405020304" pitchFamily="18" charset="0"/>
            </a:endParaRPr>
          </a:p>
        </p:txBody>
      </p:sp>
      <p:sp>
        <p:nvSpPr>
          <p:cNvPr id="12" name="Shape 10"/>
          <p:cNvSpPr/>
          <p:nvPr/>
        </p:nvSpPr>
        <p:spPr>
          <a:xfrm>
            <a:off x="6537960" y="1463040"/>
            <a:ext cx="2194560" cy="457200"/>
          </a:xfrm>
          <a:prstGeom prst="roundRect">
            <a:avLst>
              <a:gd name="adj" fmla="val 16000"/>
            </a:avLst>
          </a:prstGeom>
          <a:solidFill>
            <a:srgbClr val="0D9488">
              <a:alpha val="40000"/>
            </a:srgbClr>
          </a:solidFill>
          <a:ln w="12700">
            <a:solidFill>
              <a:srgbClr val="14B8A6"/>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3" name="Text 11"/>
          <p:cNvSpPr/>
          <p:nvPr/>
        </p:nvSpPr>
        <p:spPr>
          <a:xfrm>
            <a:off x="6537960" y="1463040"/>
            <a:ext cx="2194560" cy="457200"/>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Tkinter</a:t>
            </a:r>
            <a:endParaRPr lang="en-US" sz="1300" dirty="0">
              <a:latin typeface="Times New Roman" panose="02020603050405020304" pitchFamily="18" charset="0"/>
              <a:cs typeface="Times New Roman" panose="02020603050405020304" pitchFamily="18" charset="0"/>
            </a:endParaRPr>
          </a:p>
        </p:txBody>
      </p:sp>
      <p:sp>
        <p:nvSpPr>
          <p:cNvPr id="14" name="Shape 12"/>
          <p:cNvSpPr/>
          <p:nvPr/>
        </p:nvSpPr>
        <p:spPr>
          <a:xfrm>
            <a:off x="6537960" y="2194560"/>
            <a:ext cx="2194560" cy="457200"/>
          </a:xfrm>
          <a:prstGeom prst="roundRect">
            <a:avLst>
              <a:gd name="adj" fmla="val 16000"/>
            </a:avLst>
          </a:prstGeom>
          <a:solidFill>
            <a:srgbClr val="0D9488">
              <a:alpha val="40000"/>
            </a:srgbClr>
          </a:solidFill>
          <a:ln w="12700">
            <a:solidFill>
              <a:srgbClr val="14B8A6"/>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5" name="Text 13"/>
          <p:cNvSpPr/>
          <p:nvPr/>
        </p:nvSpPr>
        <p:spPr>
          <a:xfrm>
            <a:off x="6537960" y="2194560"/>
            <a:ext cx="2194560" cy="457200"/>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SQLite</a:t>
            </a:r>
            <a:endParaRPr lang="en-US" sz="1300" dirty="0">
              <a:latin typeface="Times New Roman" panose="02020603050405020304" pitchFamily="18" charset="0"/>
              <a:cs typeface="Times New Roman" panose="02020603050405020304" pitchFamily="18" charset="0"/>
            </a:endParaRPr>
          </a:p>
        </p:txBody>
      </p:sp>
      <p:sp>
        <p:nvSpPr>
          <p:cNvPr id="16" name="Shape 14"/>
          <p:cNvSpPr/>
          <p:nvPr/>
        </p:nvSpPr>
        <p:spPr>
          <a:xfrm>
            <a:off x="6537960" y="2926080"/>
            <a:ext cx="2194560" cy="457200"/>
          </a:xfrm>
          <a:prstGeom prst="roundRect">
            <a:avLst>
              <a:gd name="adj" fmla="val 16000"/>
            </a:avLst>
          </a:prstGeom>
          <a:solidFill>
            <a:srgbClr val="0D9488">
              <a:alpha val="40000"/>
            </a:srgbClr>
          </a:solidFill>
          <a:ln w="12700">
            <a:solidFill>
              <a:srgbClr val="14B8A6"/>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7" name="Text 15"/>
          <p:cNvSpPr/>
          <p:nvPr/>
        </p:nvSpPr>
        <p:spPr>
          <a:xfrm>
            <a:off x="6537960" y="2926080"/>
            <a:ext cx="2194560" cy="457200"/>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ttkbootstrap</a:t>
            </a:r>
            <a:endParaRPr lang="en-US" sz="1300" dirty="0">
              <a:latin typeface="Times New Roman" panose="02020603050405020304" pitchFamily="18" charset="0"/>
              <a:cs typeface="Times New Roman" panose="02020603050405020304" pitchFamily="18" charset="0"/>
            </a:endParaRPr>
          </a:p>
        </p:txBody>
      </p:sp>
      <p:sp>
        <p:nvSpPr>
          <p:cNvPr id="18" name="Shape 16"/>
          <p:cNvSpPr/>
          <p:nvPr/>
        </p:nvSpPr>
        <p:spPr>
          <a:xfrm>
            <a:off x="6537960" y="3657600"/>
            <a:ext cx="2194560" cy="457200"/>
          </a:xfrm>
          <a:prstGeom prst="roundRect">
            <a:avLst>
              <a:gd name="adj" fmla="val 16000"/>
            </a:avLst>
          </a:prstGeom>
          <a:solidFill>
            <a:srgbClr val="0D9488">
              <a:alpha val="40000"/>
            </a:srgbClr>
          </a:solidFill>
          <a:ln w="12700">
            <a:solidFill>
              <a:srgbClr val="14B8A6"/>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9" name="Text 17"/>
          <p:cNvSpPr/>
          <p:nvPr/>
        </p:nvSpPr>
        <p:spPr>
          <a:xfrm>
            <a:off x="6537960" y="3657600"/>
            <a:ext cx="2194560" cy="457200"/>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UML</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Shape 1"/>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 name="Text 2"/>
          <p:cNvSpPr/>
          <p:nvPr/>
        </p:nvSpPr>
        <p:spPr>
          <a:xfrm>
            <a:off x="274320" y="0"/>
            <a:ext cx="8686800" cy="914400"/>
          </a:xfrm>
          <a:prstGeom prst="rect">
            <a:avLst/>
          </a:prstGeom>
          <a:noFill/>
          <a:ln/>
        </p:spPr>
        <p:txBody>
          <a:bodyPr wrap="square" rtlCol="0" anchor="ctr"/>
          <a:lstStyle/>
          <a:p>
            <a:pPr marL="0" indent="0" algn="l">
              <a:buNone/>
            </a:pPr>
            <a:r>
              <a:rPr lang="en-US" sz="2600" b="1" dirty="0">
                <a:solidFill>
                  <a:srgbClr val="FFFFFF"/>
                </a:solidFill>
                <a:latin typeface="Times New Roman" panose="02020603050405020304" pitchFamily="18" charset="0"/>
                <a:ea typeface="Calibri" pitchFamily="34" charset="-122"/>
                <a:cs typeface="Times New Roman" panose="02020603050405020304" pitchFamily="18" charset="0"/>
              </a:rPr>
              <a:t>Giới Thiệu Dự Án</a:t>
            </a:r>
            <a:endParaRPr lang="en-US" sz="2600" dirty="0">
              <a:latin typeface="Times New Roman" panose="02020603050405020304" pitchFamily="18" charset="0"/>
              <a:cs typeface="Times New Roman" panose="02020603050405020304" pitchFamily="18" charset="0"/>
            </a:endParaRPr>
          </a:p>
        </p:txBody>
      </p:sp>
      <p:sp>
        <p:nvSpPr>
          <p:cNvPr id="5" name="Shape 3"/>
          <p:cNvSpPr/>
          <p:nvPr/>
        </p:nvSpPr>
        <p:spPr>
          <a:xfrm>
            <a:off x="320040" y="1097280"/>
            <a:ext cx="8503920" cy="14630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6" name="Text 4"/>
          <p:cNvSpPr/>
          <p:nvPr/>
        </p:nvSpPr>
        <p:spPr>
          <a:xfrm>
            <a:off x="502920" y="1143000"/>
            <a:ext cx="8138160" cy="1371600"/>
          </a:xfrm>
          <a:prstGeom prst="rect">
            <a:avLst/>
          </a:prstGeom>
          <a:noFill/>
          <a:ln/>
        </p:spPr>
        <p:txBody>
          <a:bodyPr wrap="square" rtlCol="0" anchor="ctr"/>
          <a:lstStyle/>
          <a:p>
            <a:pPr marL="0" indent="0" algn="l">
              <a:buNone/>
            </a:pPr>
            <a:r>
              <a:rPr lang="en-US" sz="1500" dirty="0">
                <a:solidFill>
                  <a:srgbClr val="1E293B"/>
                </a:solidFill>
                <a:latin typeface="Times New Roman" panose="02020603050405020304" pitchFamily="18" charset="0"/>
                <a:ea typeface="Calibri" pitchFamily="34" charset="-122"/>
                <a:cs typeface="Times New Roman" panose="02020603050405020304" pitchFamily="18" charset="0"/>
              </a:rPr>
              <a:t>Ứng dụng quản lý công việc viết bằng Python, sử dụng giao diện đồ họa Tkinter với thư viện ttkbootstrap để tạo giao diện hiện đại. Người dùng có thể thêm, xem, cập nhật và xóa các công việc với deadline, thời gian, và mức độ quan trọng.</a:t>
            </a:r>
            <a:endParaRPr lang="en-US" sz="1500" dirty="0">
              <a:latin typeface="Times New Roman" panose="02020603050405020304" pitchFamily="18" charset="0"/>
              <a:cs typeface="Times New Roman" panose="02020603050405020304" pitchFamily="18" charset="0"/>
            </a:endParaRPr>
          </a:p>
        </p:txBody>
      </p:sp>
      <p:sp>
        <p:nvSpPr>
          <p:cNvPr id="7" name="Shape 5"/>
          <p:cNvSpPr/>
          <p:nvPr/>
        </p:nvSpPr>
        <p:spPr>
          <a:xfrm>
            <a:off x="320040" y="2834640"/>
            <a:ext cx="2651760" cy="19202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8" name="Shape 6"/>
          <p:cNvSpPr/>
          <p:nvPr/>
        </p:nvSpPr>
        <p:spPr>
          <a:xfrm>
            <a:off x="320040" y="2834640"/>
            <a:ext cx="2651760" cy="73152"/>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Text 7"/>
          <p:cNvSpPr/>
          <p:nvPr/>
        </p:nvSpPr>
        <p:spPr>
          <a:xfrm>
            <a:off x="320040" y="2971800"/>
            <a:ext cx="2651760" cy="502920"/>
          </a:xfrm>
          <a:prstGeom prst="rect">
            <a:avLst/>
          </a:prstGeom>
          <a:noFill/>
          <a:ln/>
        </p:spPr>
        <p:txBody>
          <a:bodyPr wrap="square" rtlCol="0" anchor="ctr"/>
          <a:lstStyle/>
          <a:p>
            <a:pPr marL="0" indent="0" algn="ctr">
              <a:buNone/>
            </a:pPr>
            <a:r>
              <a:rPr lang="en-US" sz="2600" dirty="0">
                <a:solidFill>
                  <a:srgbClr val="000000"/>
                </a:solidFill>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
        <p:nvSpPr>
          <p:cNvPr id="10" name="Text 8"/>
          <p:cNvSpPr/>
          <p:nvPr/>
        </p:nvSpPr>
        <p:spPr>
          <a:xfrm>
            <a:off x="320040" y="3520440"/>
            <a:ext cx="2651760" cy="365760"/>
          </a:xfrm>
          <a:prstGeom prst="rect">
            <a:avLst/>
          </a:prstGeom>
          <a:noFill/>
          <a:ln/>
        </p:spPr>
        <p:txBody>
          <a:bodyPr wrap="square" rtlCol="0" anchor="ctr"/>
          <a:lstStyle/>
          <a:p>
            <a:pPr marL="0" indent="0" algn="ctr">
              <a:buNone/>
            </a:pPr>
            <a:r>
              <a:rPr lang="en-US" sz="1300" b="1" dirty="0">
                <a:solidFill>
                  <a:srgbClr val="1A2B4A"/>
                </a:solidFill>
                <a:latin typeface="Times New Roman" panose="02020603050405020304" pitchFamily="18" charset="0"/>
                <a:ea typeface="Calibri" pitchFamily="34" charset="-122"/>
                <a:cs typeface="Times New Roman" panose="02020603050405020304" pitchFamily="18" charset="0"/>
              </a:rPr>
              <a:t>Quản lý công việc</a:t>
            </a:r>
            <a:endParaRPr lang="en-US" sz="1300" dirty="0">
              <a:latin typeface="Times New Roman" panose="02020603050405020304" pitchFamily="18" charset="0"/>
              <a:cs typeface="Times New Roman" panose="02020603050405020304" pitchFamily="18" charset="0"/>
            </a:endParaRPr>
          </a:p>
        </p:txBody>
      </p:sp>
      <p:sp>
        <p:nvSpPr>
          <p:cNvPr id="11" name="Text 9"/>
          <p:cNvSpPr/>
          <p:nvPr/>
        </p:nvSpPr>
        <p:spPr>
          <a:xfrm>
            <a:off x="320040" y="3886200"/>
            <a:ext cx="2651760" cy="640080"/>
          </a:xfrm>
          <a:prstGeom prst="rect">
            <a:avLst/>
          </a:prstGeom>
          <a:noFill/>
          <a:ln/>
        </p:spPr>
        <p:txBody>
          <a:bodyPr wrap="square" rtlCol="0" anchor="ctr"/>
          <a:lstStyle/>
          <a:p>
            <a:pPr marL="0" indent="0" algn="ctr">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Thêm, sửa, xóa dễ dàng</a:t>
            </a:r>
            <a:endParaRPr lang="en-US" sz="1200" dirty="0">
              <a:latin typeface="Times New Roman" panose="02020603050405020304" pitchFamily="18" charset="0"/>
              <a:cs typeface="Times New Roman" panose="02020603050405020304" pitchFamily="18" charset="0"/>
            </a:endParaRPr>
          </a:p>
        </p:txBody>
      </p:sp>
      <p:sp>
        <p:nvSpPr>
          <p:cNvPr id="12" name="Shape 10"/>
          <p:cNvSpPr/>
          <p:nvPr/>
        </p:nvSpPr>
        <p:spPr>
          <a:xfrm>
            <a:off x="3200400" y="2834640"/>
            <a:ext cx="2651760" cy="19202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13" name="Shape 11"/>
          <p:cNvSpPr/>
          <p:nvPr/>
        </p:nvSpPr>
        <p:spPr>
          <a:xfrm>
            <a:off x="3200400" y="2834640"/>
            <a:ext cx="2651760" cy="73152"/>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4" name="Text 12"/>
          <p:cNvSpPr/>
          <p:nvPr/>
        </p:nvSpPr>
        <p:spPr>
          <a:xfrm>
            <a:off x="3200400" y="2971800"/>
            <a:ext cx="2651760" cy="502920"/>
          </a:xfrm>
          <a:prstGeom prst="rect">
            <a:avLst/>
          </a:prstGeom>
          <a:noFill/>
          <a:ln/>
        </p:spPr>
        <p:txBody>
          <a:bodyPr wrap="square" rtlCol="0" anchor="ctr"/>
          <a:lstStyle/>
          <a:p>
            <a:pPr marL="0" indent="0" algn="ctr">
              <a:buNone/>
            </a:pPr>
            <a:r>
              <a:rPr lang="en-US" sz="2600" dirty="0">
                <a:solidFill>
                  <a:srgbClr val="000000"/>
                </a:solidFill>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
        <p:nvSpPr>
          <p:cNvPr id="15" name="Text 13"/>
          <p:cNvSpPr/>
          <p:nvPr/>
        </p:nvSpPr>
        <p:spPr>
          <a:xfrm>
            <a:off x="3200400" y="3520440"/>
            <a:ext cx="2651760" cy="365760"/>
          </a:xfrm>
          <a:prstGeom prst="rect">
            <a:avLst/>
          </a:prstGeom>
          <a:noFill/>
          <a:ln/>
        </p:spPr>
        <p:txBody>
          <a:bodyPr wrap="square" rtlCol="0" anchor="ctr"/>
          <a:lstStyle/>
          <a:p>
            <a:pPr marL="0" indent="0" algn="ctr">
              <a:buNone/>
            </a:pPr>
            <a:r>
              <a:rPr lang="en-US" sz="1300" b="1" dirty="0">
                <a:solidFill>
                  <a:srgbClr val="1A2B4A"/>
                </a:solidFill>
                <a:latin typeface="Times New Roman" panose="02020603050405020304" pitchFamily="18" charset="0"/>
                <a:ea typeface="Calibri" pitchFamily="34" charset="-122"/>
                <a:cs typeface="Times New Roman" panose="02020603050405020304" pitchFamily="18" charset="0"/>
              </a:rPr>
              <a:t>Deadline &amp; Lịch</a:t>
            </a:r>
            <a:endParaRPr lang="en-US" sz="1300" dirty="0">
              <a:latin typeface="Times New Roman" panose="02020603050405020304" pitchFamily="18" charset="0"/>
              <a:cs typeface="Times New Roman" panose="02020603050405020304" pitchFamily="18" charset="0"/>
            </a:endParaRPr>
          </a:p>
        </p:txBody>
      </p:sp>
      <p:sp>
        <p:nvSpPr>
          <p:cNvPr id="16" name="Text 14"/>
          <p:cNvSpPr/>
          <p:nvPr/>
        </p:nvSpPr>
        <p:spPr>
          <a:xfrm>
            <a:off x="3200400" y="3886200"/>
            <a:ext cx="2651760" cy="640080"/>
          </a:xfrm>
          <a:prstGeom prst="rect">
            <a:avLst/>
          </a:prstGeom>
          <a:noFill/>
          <a:ln/>
        </p:spPr>
        <p:txBody>
          <a:bodyPr wrap="square" rtlCol="0" anchor="ctr"/>
          <a:lstStyle/>
          <a:p>
            <a:pPr marL="0" indent="0" algn="ctr">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Calendar picker tích hợp</a:t>
            </a:r>
            <a:endParaRPr lang="en-US" sz="1200" dirty="0">
              <a:latin typeface="Times New Roman" panose="02020603050405020304" pitchFamily="18" charset="0"/>
              <a:cs typeface="Times New Roman" panose="02020603050405020304" pitchFamily="18" charset="0"/>
            </a:endParaRPr>
          </a:p>
        </p:txBody>
      </p:sp>
      <p:sp>
        <p:nvSpPr>
          <p:cNvPr id="17" name="Shape 15"/>
          <p:cNvSpPr/>
          <p:nvPr/>
        </p:nvSpPr>
        <p:spPr>
          <a:xfrm>
            <a:off x="6080760" y="2834640"/>
            <a:ext cx="2651760" cy="192024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18" name="Shape 16"/>
          <p:cNvSpPr/>
          <p:nvPr/>
        </p:nvSpPr>
        <p:spPr>
          <a:xfrm>
            <a:off x="6080760" y="2834640"/>
            <a:ext cx="2651760" cy="73152"/>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9" name="Text 17"/>
          <p:cNvSpPr/>
          <p:nvPr/>
        </p:nvSpPr>
        <p:spPr>
          <a:xfrm>
            <a:off x="6080760" y="2971800"/>
            <a:ext cx="2651760" cy="502920"/>
          </a:xfrm>
          <a:prstGeom prst="rect">
            <a:avLst/>
          </a:prstGeom>
          <a:noFill/>
          <a:ln/>
        </p:spPr>
        <p:txBody>
          <a:bodyPr wrap="square" rtlCol="0" anchor="ctr"/>
          <a:lstStyle/>
          <a:p>
            <a:pPr marL="0" indent="0" algn="ctr">
              <a:buNone/>
            </a:pPr>
            <a:r>
              <a:rPr lang="en-US" sz="2600" dirty="0">
                <a:solidFill>
                  <a:srgbClr val="000000"/>
                </a:solidFill>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
        <p:nvSpPr>
          <p:cNvPr id="20" name="Text 18"/>
          <p:cNvSpPr/>
          <p:nvPr/>
        </p:nvSpPr>
        <p:spPr>
          <a:xfrm>
            <a:off x="6080760" y="3520440"/>
            <a:ext cx="2651760" cy="365760"/>
          </a:xfrm>
          <a:prstGeom prst="rect">
            <a:avLst/>
          </a:prstGeom>
          <a:noFill/>
          <a:ln/>
        </p:spPr>
        <p:txBody>
          <a:bodyPr wrap="square" rtlCol="0" anchor="ctr"/>
          <a:lstStyle/>
          <a:p>
            <a:pPr marL="0" indent="0" algn="ctr">
              <a:buNone/>
            </a:pPr>
            <a:r>
              <a:rPr lang="en-US" sz="1300" b="1" dirty="0">
                <a:solidFill>
                  <a:srgbClr val="1A2B4A"/>
                </a:solidFill>
                <a:latin typeface="Times New Roman" panose="02020603050405020304" pitchFamily="18" charset="0"/>
                <a:ea typeface="Calibri" pitchFamily="34" charset="-122"/>
                <a:cs typeface="Times New Roman" panose="02020603050405020304" pitchFamily="18" charset="0"/>
              </a:rPr>
              <a:t>Thông báo</a:t>
            </a:r>
            <a:endParaRPr lang="en-US" sz="1300" dirty="0">
              <a:latin typeface="Times New Roman" panose="02020603050405020304" pitchFamily="18" charset="0"/>
              <a:cs typeface="Times New Roman" panose="02020603050405020304" pitchFamily="18" charset="0"/>
            </a:endParaRPr>
          </a:p>
        </p:txBody>
      </p:sp>
      <p:sp>
        <p:nvSpPr>
          <p:cNvPr id="21" name="Text 19"/>
          <p:cNvSpPr/>
          <p:nvPr/>
        </p:nvSpPr>
        <p:spPr>
          <a:xfrm>
            <a:off x="6080760" y="3886200"/>
            <a:ext cx="2651760" cy="640080"/>
          </a:xfrm>
          <a:prstGeom prst="rect">
            <a:avLst/>
          </a:prstGeom>
          <a:noFill/>
          <a:ln/>
        </p:spPr>
        <p:txBody>
          <a:bodyPr wrap="square" rtlCol="0" anchor="ctr"/>
          <a:lstStyle/>
          <a:p>
            <a:pPr marL="0" indent="0" algn="ctr">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Nhắc nhở đúng giờ</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Shape 1"/>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 name="Text 2"/>
          <p:cNvSpPr/>
          <p:nvPr/>
        </p:nvSpPr>
        <p:spPr>
          <a:xfrm>
            <a:off x="274320" y="0"/>
            <a:ext cx="8686800" cy="914400"/>
          </a:xfrm>
          <a:prstGeom prst="rect">
            <a:avLst/>
          </a:prstGeom>
          <a:noFill/>
          <a:ln/>
        </p:spPr>
        <p:txBody>
          <a:bodyPr wrap="square" rtlCol="0" anchor="ctr"/>
          <a:lstStyle/>
          <a:p>
            <a:pPr marL="0" indent="0" algn="l">
              <a:buNone/>
            </a:pPr>
            <a:r>
              <a:rPr lang="en-US" sz="2600" b="1" dirty="0">
                <a:solidFill>
                  <a:srgbClr val="FFFFFF"/>
                </a:solidFill>
                <a:latin typeface="Times New Roman" panose="02020603050405020304" pitchFamily="18" charset="0"/>
                <a:ea typeface="Calibri" pitchFamily="34" charset="-122"/>
                <a:cs typeface="Times New Roman" panose="02020603050405020304" pitchFamily="18" charset="0"/>
              </a:rPr>
              <a:t>Tính Năng Chính</a:t>
            </a:r>
            <a:endParaRPr lang="en-US" sz="2600" dirty="0">
              <a:latin typeface="Times New Roman" panose="02020603050405020304" pitchFamily="18" charset="0"/>
              <a:cs typeface="Times New Roman" panose="02020603050405020304" pitchFamily="18" charset="0"/>
            </a:endParaRPr>
          </a:p>
        </p:txBody>
      </p:sp>
      <p:sp>
        <p:nvSpPr>
          <p:cNvPr id="5" name="Shape 3"/>
          <p:cNvSpPr/>
          <p:nvPr/>
        </p:nvSpPr>
        <p:spPr>
          <a:xfrm>
            <a:off x="320040" y="1051560"/>
            <a:ext cx="3931920" cy="100584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6" name="Shape 4"/>
          <p:cNvSpPr/>
          <p:nvPr/>
        </p:nvSpPr>
        <p:spPr>
          <a:xfrm>
            <a:off x="320040" y="1051560"/>
            <a:ext cx="64008" cy="100584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438912" y="1143000"/>
            <a:ext cx="457200" cy="457200"/>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914400" y="1097280"/>
            <a:ext cx="3200400" cy="320040"/>
          </a:xfrm>
          <a:prstGeom prst="rect">
            <a:avLst/>
          </a:prstGeom>
          <a:noFill/>
          <a:ln/>
        </p:spPr>
        <p:txBody>
          <a:bodyPr wrap="square" rtlCol="0" anchor="ctr"/>
          <a:lstStyle/>
          <a:p>
            <a:pPr marL="0" indent="0">
              <a:buNone/>
            </a:pPr>
            <a:r>
              <a:rPr lang="en-US" sz="1300" b="1" dirty="0">
                <a:solidFill>
                  <a:srgbClr val="1A2B4A"/>
                </a:solidFill>
                <a:latin typeface="Times New Roman" panose="02020603050405020304" pitchFamily="18" charset="0"/>
                <a:ea typeface="Calibri" pitchFamily="34" charset="-122"/>
                <a:cs typeface="Times New Roman" panose="02020603050405020304" pitchFamily="18" charset="0"/>
              </a:rPr>
              <a:t>Thêm công việc mới</a:t>
            </a:r>
            <a:endParaRPr lang="en-US" sz="1300" dirty="0">
              <a:latin typeface="Times New Roman" panose="02020603050405020304" pitchFamily="18" charset="0"/>
              <a:cs typeface="Times New Roman" panose="02020603050405020304" pitchFamily="18" charset="0"/>
            </a:endParaRPr>
          </a:p>
        </p:txBody>
      </p:sp>
      <p:sp>
        <p:nvSpPr>
          <p:cNvPr id="9" name="Text 7"/>
          <p:cNvSpPr/>
          <p:nvPr/>
        </p:nvSpPr>
        <p:spPr>
          <a:xfrm>
            <a:off x="914400" y="1435608"/>
            <a:ext cx="3200400" cy="502920"/>
          </a:xfrm>
          <a:prstGeom prst="rect">
            <a:avLst/>
          </a:prstGeom>
          <a:noFill/>
          <a:ln/>
        </p:spPr>
        <p:txBody>
          <a:bodyPr wrap="square" rtlCol="0" anchor="ctr"/>
          <a:lstStyle/>
          <a:p>
            <a:pPr marL="0" indent="0">
              <a:buNone/>
            </a:pPr>
            <a:r>
              <a:rPr lang="en-US" sz="1150" dirty="0">
                <a:solidFill>
                  <a:srgbClr val="64748B"/>
                </a:solidFill>
                <a:latin typeface="Times New Roman" panose="02020603050405020304" pitchFamily="18" charset="0"/>
                <a:ea typeface="Calibri" pitchFamily="34" charset="-122"/>
                <a:cs typeface="Times New Roman" panose="02020603050405020304" pitchFamily="18" charset="0"/>
              </a:rPr>
              <a:t>Form nhập liệu với tên, mô tả, deadline, thời gian và đánh dấu quan trọng</a:t>
            </a:r>
            <a:endParaRPr lang="en-US" sz="1150" dirty="0">
              <a:latin typeface="Times New Roman" panose="02020603050405020304" pitchFamily="18" charset="0"/>
              <a:cs typeface="Times New Roman" panose="02020603050405020304" pitchFamily="18" charset="0"/>
            </a:endParaRPr>
          </a:p>
        </p:txBody>
      </p:sp>
      <p:sp>
        <p:nvSpPr>
          <p:cNvPr id="10" name="Shape 8"/>
          <p:cNvSpPr/>
          <p:nvPr/>
        </p:nvSpPr>
        <p:spPr>
          <a:xfrm>
            <a:off x="4709160" y="1051560"/>
            <a:ext cx="3931920" cy="100584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11" name="Shape 9"/>
          <p:cNvSpPr/>
          <p:nvPr/>
        </p:nvSpPr>
        <p:spPr>
          <a:xfrm>
            <a:off x="4709160" y="1051560"/>
            <a:ext cx="64008" cy="100584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10"/>
          <p:cNvSpPr/>
          <p:nvPr/>
        </p:nvSpPr>
        <p:spPr>
          <a:xfrm>
            <a:off x="4828032" y="1143000"/>
            <a:ext cx="457200" cy="457200"/>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5303520" y="1097280"/>
            <a:ext cx="3200400" cy="320040"/>
          </a:xfrm>
          <a:prstGeom prst="rect">
            <a:avLst/>
          </a:prstGeom>
          <a:noFill/>
          <a:ln/>
        </p:spPr>
        <p:txBody>
          <a:bodyPr wrap="square" rtlCol="0" anchor="ctr"/>
          <a:lstStyle/>
          <a:p>
            <a:pPr marL="0" indent="0">
              <a:buNone/>
            </a:pPr>
            <a:r>
              <a:rPr lang="en-US" sz="1300" b="1" dirty="0">
                <a:solidFill>
                  <a:srgbClr val="1A2B4A"/>
                </a:solidFill>
                <a:latin typeface="Times New Roman" panose="02020603050405020304" pitchFamily="18" charset="0"/>
                <a:ea typeface="Calibri" pitchFamily="34" charset="-122"/>
                <a:cs typeface="Times New Roman" panose="02020603050405020304" pitchFamily="18" charset="0"/>
              </a:rPr>
              <a:t>Hiển thị danh sách</a:t>
            </a:r>
            <a:endParaRPr lang="en-US" sz="1300" dirty="0">
              <a:latin typeface="Times New Roman" panose="02020603050405020304" pitchFamily="18" charset="0"/>
              <a:cs typeface="Times New Roman" panose="02020603050405020304" pitchFamily="18" charset="0"/>
            </a:endParaRPr>
          </a:p>
        </p:txBody>
      </p:sp>
      <p:sp>
        <p:nvSpPr>
          <p:cNvPr id="14" name="Text 12"/>
          <p:cNvSpPr/>
          <p:nvPr/>
        </p:nvSpPr>
        <p:spPr>
          <a:xfrm>
            <a:off x="5303520" y="1435608"/>
            <a:ext cx="3200400" cy="502920"/>
          </a:xfrm>
          <a:prstGeom prst="rect">
            <a:avLst/>
          </a:prstGeom>
          <a:noFill/>
          <a:ln/>
        </p:spPr>
        <p:txBody>
          <a:bodyPr wrap="square" rtlCol="0" anchor="ctr"/>
          <a:lstStyle/>
          <a:p>
            <a:pPr marL="0" indent="0">
              <a:buNone/>
            </a:pPr>
            <a:r>
              <a:rPr lang="en-US" sz="1150" dirty="0">
                <a:solidFill>
                  <a:srgbClr val="64748B"/>
                </a:solidFill>
                <a:latin typeface="Times New Roman" panose="02020603050405020304" pitchFamily="18" charset="0"/>
                <a:ea typeface="Calibri" pitchFamily="34" charset="-122"/>
                <a:cs typeface="Times New Roman" panose="02020603050405020304" pitchFamily="18" charset="0"/>
              </a:rPr>
              <a:t>Lọc theo trạng thái: Tất cả, Hoàn thành, Chưa hoàn thành</a:t>
            </a:r>
            <a:endParaRPr lang="en-US" sz="1150" dirty="0">
              <a:latin typeface="Times New Roman" panose="02020603050405020304" pitchFamily="18" charset="0"/>
              <a:cs typeface="Times New Roman" panose="02020603050405020304" pitchFamily="18" charset="0"/>
            </a:endParaRPr>
          </a:p>
        </p:txBody>
      </p:sp>
      <p:sp>
        <p:nvSpPr>
          <p:cNvPr id="15" name="Shape 13"/>
          <p:cNvSpPr/>
          <p:nvPr/>
        </p:nvSpPr>
        <p:spPr>
          <a:xfrm>
            <a:off x="320040" y="2240280"/>
            <a:ext cx="3931920" cy="100584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16" name="Shape 14"/>
          <p:cNvSpPr/>
          <p:nvPr/>
        </p:nvSpPr>
        <p:spPr>
          <a:xfrm>
            <a:off x="320040" y="2240280"/>
            <a:ext cx="64008" cy="100584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7" name="Text 15"/>
          <p:cNvSpPr/>
          <p:nvPr/>
        </p:nvSpPr>
        <p:spPr>
          <a:xfrm>
            <a:off x="438912" y="2331720"/>
            <a:ext cx="457200" cy="457200"/>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914400" y="2286000"/>
            <a:ext cx="3200400" cy="320040"/>
          </a:xfrm>
          <a:prstGeom prst="rect">
            <a:avLst/>
          </a:prstGeom>
          <a:noFill/>
          <a:ln/>
        </p:spPr>
        <p:txBody>
          <a:bodyPr wrap="square" rtlCol="0" anchor="ctr"/>
          <a:lstStyle/>
          <a:p>
            <a:pPr marL="0" indent="0">
              <a:buNone/>
            </a:pPr>
            <a:r>
              <a:rPr lang="en-US" sz="1300" b="1" dirty="0">
                <a:solidFill>
                  <a:srgbClr val="1A2B4A"/>
                </a:solidFill>
                <a:latin typeface="Times New Roman" panose="02020603050405020304" pitchFamily="18" charset="0"/>
                <a:ea typeface="Calibri" pitchFamily="34" charset="-122"/>
                <a:cs typeface="Times New Roman" panose="02020603050405020304" pitchFamily="18" charset="0"/>
              </a:rPr>
              <a:t>Thông báo tự động</a:t>
            </a:r>
            <a:endParaRPr lang="en-US" sz="1300" dirty="0">
              <a:latin typeface="Times New Roman" panose="02020603050405020304" pitchFamily="18" charset="0"/>
              <a:cs typeface="Times New Roman" panose="02020603050405020304" pitchFamily="18" charset="0"/>
            </a:endParaRPr>
          </a:p>
        </p:txBody>
      </p:sp>
      <p:sp>
        <p:nvSpPr>
          <p:cNvPr id="19" name="Text 17"/>
          <p:cNvSpPr/>
          <p:nvPr/>
        </p:nvSpPr>
        <p:spPr>
          <a:xfrm>
            <a:off x="914400" y="2624328"/>
            <a:ext cx="3200400" cy="502920"/>
          </a:xfrm>
          <a:prstGeom prst="rect">
            <a:avLst/>
          </a:prstGeom>
          <a:noFill/>
          <a:ln/>
        </p:spPr>
        <p:txBody>
          <a:bodyPr wrap="square" rtlCol="0" anchor="ctr"/>
          <a:lstStyle/>
          <a:p>
            <a:pPr marL="0" indent="0">
              <a:buNone/>
            </a:pPr>
            <a:r>
              <a:rPr lang="en-US" sz="1150" dirty="0">
                <a:solidFill>
                  <a:srgbClr val="64748B"/>
                </a:solidFill>
                <a:latin typeface="Times New Roman" panose="02020603050405020304" pitchFamily="18" charset="0"/>
                <a:ea typeface="Calibri" pitchFamily="34" charset="-122"/>
                <a:cs typeface="Times New Roman" panose="02020603050405020304" pitchFamily="18" charset="0"/>
              </a:rPr>
              <a:t>Tự động thông báo khi đến giờ làm việc qua Windows Toasts</a:t>
            </a:r>
            <a:endParaRPr lang="en-US" sz="1150" dirty="0">
              <a:latin typeface="Times New Roman" panose="02020603050405020304" pitchFamily="18" charset="0"/>
              <a:cs typeface="Times New Roman" panose="02020603050405020304" pitchFamily="18" charset="0"/>
            </a:endParaRPr>
          </a:p>
        </p:txBody>
      </p:sp>
      <p:sp>
        <p:nvSpPr>
          <p:cNvPr id="20" name="Shape 18"/>
          <p:cNvSpPr/>
          <p:nvPr/>
        </p:nvSpPr>
        <p:spPr>
          <a:xfrm>
            <a:off x="4709160" y="2240280"/>
            <a:ext cx="3931920" cy="100584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1" name="Shape 19"/>
          <p:cNvSpPr/>
          <p:nvPr/>
        </p:nvSpPr>
        <p:spPr>
          <a:xfrm>
            <a:off x="4709160" y="2240280"/>
            <a:ext cx="64008" cy="100584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2" name="Text 20"/>
          <p:cNvSpPr/>
          <p:nvPr/>
        </p:nvSpPr>
        <p:spPr>
          <a:xfrm>
            <a:off x="4828032" y="2331720"/>
            <a:ext cx="457200" cy="457200"/>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3" name="Text 21"/>
          <p:cNvSpPr/>
          <p:nvPr/>
        </p:nvSpPr>
        <p:spPr>
          <a:xfrm>
            <a:off x="5303520" y="2286000"/>
            <a:ext cx="3200400" cy="320040"/>
          </a:xfrm>
          <a:prstGeom prst="rect">
            <a:avLst/>
          </a:prstGeom>
          <a:noFill/>
          <a:ln/>
        </p:spPr>
        <p:txBody>
          <a:bodyPr wrap="square" rtlCol="0" anchor="ctr"/>
          <a:lstStyle/>
          <a:p>
            <a:pPr marL="0" indent="0">
              <a:buNone/>
            </a:pPr>
            <a:r>
              <a:rPr lang="en-US" sz="1300" b="1" dirty="0">
                <a:solidFill>
                  <a:srgbClr val="1A2B4A"/>
                </a:solidFill>
                <a:latin typeface="Times New Roman" panose="02020603050405020304" pitchFamily="18" charset="0"/>
                <a:ea typeface="Calibri" pitchFamily="34" charset="-122"/>
                <a:cs typeface="Times New Roman" panose="02020603050405020304" pitchFamily="18" charset="0"/>
              </a:rPr>
              <a:t>Lịch chọn ngày</a:t>
            </a:r>
            <a:endParaRPr lang="en-US" sz="1300" dirty="0">
              <a:latin typeface="Times New Roman" panose="02020603050405020304" pitchFamily="18" charset="0"/>
              <a:cs typeface="Times New Roman" panose="02020603050405020304" pitchFamily="18" charset="0"/>
            </a:endParaRPr>
          </a:p>
        </p:txBody>
      </p:sp>
      <p:sp>
        <p:nvSpPr>
          <p:cNvPr id="24" name="Text 22"/>
          <p:cNvSpPr/>
          <p:nvPr/>
        </p:nvSpPr>
        <p:spPr>
          <a:xfrm>
            <a:off x="5303520" y="2624328"/>
            <a:ext cx="3200400" cy="502920"/>
          </a:xfrm>
          <a:prstGeom prst="rect">
            <a:avLst/>
          </a:prstGeom>
          <a:noFill/>
          <a:ln/>
        </p:spPr>
        <p:txBody>
          <a:bodyPr wrap="square" rtlCol="0" anchor="ctr"/>
          <a:lstStyle/>
          <a:p>
            <a:pPr marL="0" indent="0">
              <a:buNone/>
            </a:pPr>
            <a:r>
              <a:rPr lang="en-US" sz="1150" dirty="0">
                <a:solidFill>
                  <a:srgbClr val="64748B"/>
                </a:solidFill>
                <a:latin typeface="Times New Roman" panose="02020603050405020304" pitchFamily="18" charset="0"/>
                <a:ea typeface="Calibri" pitchFamily="34" charset="-122"/>
                <a:cs typeface="Times New Roman" panose="02020603050405020304" pitchFamily="18" charset="0"/>
              </a:rPr>
              <a:t>Chọn ngày deadline bằng calendar picker tích hợp</a:t>
            </a:r>
            <a:endParaRPr lang="en-US" sz="1150" dirty="0">
              <a:latin typeface="Times New Roman" panose="02020603050405020304" pitchFamily="18" charset="0"/>
              <a:cs typeface="Times New Roman" panose="02020603050405020304" pitchFamily="18" charset="0"/>
            </a:endParaRPr>
          </a:p>
        </p:txBody>
      </p:sp>
      <p:sp>
        <p:nvSpPr>
          <p:cNvPr id="25" name="Shape 23"/>
          <p:cNvSpPr/>
          <p:nvPr/>
        </p:nvSpPr>
        <p:spPr>
          <a:xfrm>
            <a:off x="2606040" y="3429000"/>
            <a:ext cx="3931920" cy="100584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6" name="Shape 24"/>
          <p:cNvSpPr/>
          <p:nvPr/>
        </p:nvSpPr>
        <p:spPr>
          <a:xfrm>
            <a:off x="2606040" y="3429000"/>
            <a:ext cx="64008" cy="100584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7" name="Text 25"/>
          <p:cNvSpPr/>
          <p:nvPr/>
        </p:nvSpPr>
        <p:spPr>
          <a:xfrm>
            <a:off x="2724912" y="3520440"/>
            <a:ext cx="457200" cy="457200"/>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8" name="Text 26"/>
          <p:cNvSpPr/>
          <p:nvPr/>
        </p:nvSpPr>
        <p:spPr>
          <a:xfrm>
            <a:off x="3200400" y="3474720"/>
            <a:ext cx="3200400" cy="320040"/>
          </a:xfrm>
          <a:prstGeom prst="rect">
            <a:avLst/>
          </a:prstGeom>
          <a:noFill/>
          <a:ln/>
        </p:spPr>
        <p:txBody>
          <a:bodyPr wrap="square" rtlCol="0" anchor="ctr"/>
          <a:lstStyle/>
          <a:p>
            <a:pPr marL="0" indent="0">
              <a:buNone/>
            </a:pPr>
            <a:r>
              <a:rPr lang="en-US" sz="1300" b="1" dirty="0">
                <a:solidFill>
                  <a:srgbClr val="1A2B4A"/>
                </a:solidFill>
                <a:latin typeface="Times New Roman" panose="02020603050405020304" pitchFamily="18" charset="0"/>
                <a:ea typeface="Calibri" pitchFamily="34" charset="-122"/>
                <a:cs typeface="Times New Roman" panose="02020603050405020304" pitchFamily="18" charset="0"/>
              </a:rPr>
              <a:t>Cơ sở dữ liệu SQLite</a:t>
            </a:r>
            <a:endParaRPr lang="en-US" sz="1300" dirty="0">
              <a:latin typeface="Times New Roman" panose="02020603050405020304" pitchFamily="18" charset="0"/>
              <a:cs typeface="Times New Roman" panose="02020603050405020304" pitchFamily="18" charset="0"/>
            </a:endParaRPr>
          </a:p>
        </p:txBody>
      </p:sp>
      <p:sp>
        <p:nvSpPr>
          <p:cNvPr id="29" name="Text 27"/>
          <p:cNvSpPr/>
          <p:nvPr/>
        </p:nvSpPr>
        <p:spPr>
          <a:xfrm>
            <a:off x="3200400" y="3813048"/>
            <a:ext cx="3200400" cy="502920"/>
          </a:xfrm>
          <a:prstGeom prst="rect">
            <a:avLst/>
          </a:prstGeom>
          <a:noFill/>
          <a:ln/>
        </p:spPr>
        <p:txBody>
          <a:bodyPr wrap="square" rtlCol="0" anchor="ctr"/>
          <a:lstStyle/>
          <a:p>
            <a:pPr marL="0" indent="0">
              <a:buNone/>
            </a:pPr>
            <a:r>
              <a:rPr lang="en-US" sz="1150" dirty="0">
                <a:solidFill>
                  <a:srgbClr val="64748B"/>
                </a:solidFill>
                <a:latin typeface="Times New Roman" panose="02020603050405020304" pitchFamily="18" charset="0"/>
                <a:ea typeface="Calibri" pitchFamily="34" charset="-122"/>
                <a:cs typeface="Times New Roman" panose="02020603050405020304" pitchFamily="18" charset="0"/>
              </a:rPr>
              <a:t>Lưu trữ dữ liệu bền vững, không cần server</a:t>
            </a:r>
            <a:endParaRPr lang="en-US" sz="11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Shape 1"/>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 name="Text 2"/>
          <p:cNvSpPr/>
          <p:nvPr/>
        </p:nvSpPr>
        <p:spPr>
          <a:xfrm>
            <a:off x="274320" y="0"/>
            <a:ext cx="8686800" cy="914400"/>
          </a:xfrm>
          <a:prstGeom prst="rect">
            <a:avLst/>
          </a:prstGeom>
          <a:noFill/>
          <a:ln/>
        </p:spPr>
        <p:txBody>
          <a:bodyPr wrap="square" rtlCol="0" anchor="ctr"/>
          <a:lstStyle/>
          <a:p>
            <a:pPr marL="0" indent="0" algn="l">
              <a:buNone/>
            </a:pPr>
            <a:r>
              <a:rPr lang="en-US" sz="2600" b="1" dirty="0">
                <a:solidFill>
                  <a:srgbClr val="FFFFFF"/>
                </a:solidFill>
                <a:latin typeface="Times New Roman" panose="02020603050405020304" pitchFamily="18" charset="0"/>
                <a:ea typeface="Calibri" pitchFamily="34" charset="-122"/>
                <a:cs typeface="Times New Roman" panose="02020603050405020304" pitchFamily="18" charset="0"/>
              </a:rPr>
              <a:t>Cấu Trúc Dự Án</a:t>
            </a:r>
            <a:endParaRPr lang="en-US" sz="2600" dirty="0">
              <a:latin typeface="Times New Roman" panose="02020603050405020304" pitchFamily="18" charset="0"/>
              <a:cs typeface="Times New Roman" panose="02020603050405020304" pitchFamily="18" charset="0"/>
            </a:endParaRPr>
          </a:p>
        </p:txBody>
      </p:sp>
      <p:sp>
        <p:nvSpPr>
          <p:cNvPr id="5" name="Shape 3"/>
          <p:cNvSpPr/>
          <p:nvPr/>
        </p:nvSpPr>
        <p:spPr>
          <a:xfrm>
            <a:off x="320040" y="1051560"/>
            <a:ext cx="3931920" cy="105156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6" name="Shape 4"/>
          <p:cNvSpPr/>
          <p:nvPr/>
        </p:nvSpPr>
        <p:spPr>
          <a:xfrm>
            <a:off x="320040" y="1051560"/>
            <a:ext cx="64008" cy="105156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502920" y="1143000"/>
            <a:ext cx="3566160" cy="347472"/>
          </a:xfrm>
          <a:prstGeom prst="rect">
            <a:avLst/>
          </a:prstGeom>
          <a:noFill/>
          <a:ln/>
        </p:spPr>
        <p:txBody>
          <a:bodyPr wrap="square" rtlCol="0" anchor="ctr"/>
          <a:lstStyle/>
          <a:p>
            <a:pPr marL="0" indent="0">
              <a:buNone/>
            </a:pPr>
            <a:r>
              <a:rPr lang="en-US" sz="1400" b="1" dirty="0">
                <a:solidFill>
                  <a:srgbClr val="0D9488"/>
                </a:solidFill>
                <a:latin typeface="Times New Roman" panose="02020603050405020304" pitchFamily="18" charset="0"/>
                <a:ea typeface="Consolas" pitchFamily="34" charset="-122"/>
                <a:cs typeface="Times New Roman" panose="02020603050405020304" pitchFamily="18" charset="0"/>
              </a:rPr>
              <a:t>main.py</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502920" y="1527048"/>
            <a:ext cx="3566160" cy="502920"/>
          </a:xfrm>
          <a:prstGeom prst="rect">
            <a:avLst/>
          </a:prstGeom>
          <a:noFill/>
          <a:ln/>
        </p:spPr>
        <p:txBody>
          <a:bodyPr wrap="square" rtlCol="0" anchor="ctr"/>
          <a:lstStyle/>
          <a:p>
            <a:pPr marL="0" indent="0">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File chính, chứa giao diện và logic ứng dụng</a:t>
            </a:r>
            <a:endParaRPr lang="en-US" sz="1200" dirty="0">
              <a:latin typeface="Times New Roman" panose="02020603050405020304" pitchFamily="18" charset="0"/>
              <a:cs typeface="Times New Roman" panose="02020603050405020304" pitchFamily="18" charset="0"/>
            </a:endParaRPr>
          </a:p>
        </p:txBody>
      </p:sp>
      <p:sp>
        <p:nvSpPr>
          <p:cNvPr id="9" name="Shape 7"/>
          <p:cNvSpPr/>
          <p:nvPr/>
        </p:nvSpPr>
        <p:spPr>
          <a:xfrm>
            <a:off x="4709160" y="1051560"/>
            <a:ext cx="3931920" cy="105156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10" name="Shape 8"/>
          <p:cNvSpPr/>
          <p:nvPr/>
        </p:nvSpPr>
        <p:spPr>
          <a:xfrm>
            <a:off x="4709160" y="1051560"/>
            <a:ext cx="64008" cy="1051560"/>
          </a:xfrm>
          <a:prstGeom prst="rect">
            <a:avLst/>
          </a:prstGeom>
          <a:solidFill>
            <a:srgbClr val="0369A1"/>
          </a:solidFill>
          <a:ln w="12700">
            <a:solidFill>
              <a:srgbClr val="0369A1"/>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9"/>
          <p:cNvSpPr/>
          <p:nvPr/>
        </p:nvSpPr>
        <p:spPr>
          <a:xfrm>
            <a:off x="4892040" y="1143000"/>
            <a:ext cx="3566160" cy="347472"/>
          </a:xfrm>
          <a:prstGeom prst="rect">
            <a:avLst/>
          </a:prstGeom>
          <a:noFill/>
          <a:ln/>
        </p:spPr>
        <p:txBody>
          <a:bodyPr wrap="square" rtlCol="0" anchor="ctr"/>
          <a:lstStyle/>
          <a:p>
            <a:pPr marL="0" indent="0">
              <a:buNone/>
            </a:pPr>
            <a:r>
              <a:rPr lang="en-US" sz="1400" b="1" dirty="0">
                <a:solidFill>
                  <a:srgbClr val="0369A1"/>
                </a:solidFill>
                <a:latin typeface="Times New Roman" panose="02020603050405020304" pitchFamily="18" charset="0"/>
                <a:ea typeface="Consolas" pitchFamily="34" charset="-122"/>
                <a:cs typeface="Times New Roman" panose="02020603050405020304" pitchFamily="18" charset="0"/>
              </a:rPr>
              <a:t>database.py</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4892040" y="1527048"/>
            <a:ext cx="3566160" cy="502920"/>
          </a:xfrm>
          <a:prstGeom prst="rect">
            <a:avLst/>
          </a:prstGeom>
          <a:noFill/>
          <a:ln/>
        </p:spPr>
        <p:txBody>
          <a:bodyPr wrap="square" rtlCol="0" anchor="ctr"/>
          <a:lstStyle/>
          <a:p>
            <a:pPr marL="0" indent="0">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Xử lý cơ sở dữ liệu SQLite</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320040" y="2331720"/>
            <a:ext cx="3931920" cy="105156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14" name="Shape 12"/>
          <p:cNvSpPr/>
          <p:nvPr/>
        </p:nvSpPr>
        <p:spPr>
          <a:xfrm>
            <a:off x="320040" y="2331720"/>
            <a:ext cx="64008" cy="1051560"/>
          </a:xfrm>
          <a:prstGeom prst="rect">
            <a:avLst/>
          </a:prstGeom>
          <a:solidFill>
            <a:srgbClr val="7C3AED"/>
          </a:solidFill>
          <a:ln w="12700">
            <a:solidFill>
              <a:srgbClr val="7C3AED"/>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5" name="Text 13"/>
          <p:cNvSpPr/>
          <p:nvPr/>
        </p:nvSpPr>
        <p:spPr>
          <a:xfrm>
            <a:off x="502920" y="2423160"/>
            <a:ext cx="3566160" cy="347472"/>
          </a:xfrm>
          <a:prstGeom prst="rect">
            <a:avLst/>
          </a:prstGeom>
          <a:noFill/>
          <a:ln/>
        </p:spPr>
        <p:txBody>
          <a:bodyPr wrap="square" rtlCol="0" anchor="ctr"/>
          <a:lstStyle/>
          <a:p>
            <a:pPr marL="0" indent="0">
              <a:buNone/>
            </a:pPr>
            <a:r>
              <a:rPr lang="en-US" sz="1400" b="1" dirty="0">
                <a:solidFill>
                  <a:srgbClr val="7C3AED"/>
                </a:solidFill>
                <a:latin typeface="Times New Roman" panose="02020603050405020304" pitchFamily="18" charset="0"/>
                <a:ea typeface="Consolas" pitchFamily="34" charset="-122"/>
                <a:cs typeface="Times New Roman" panose="02020603050405020304" pitchFamily="18" charset="0"/>
              </a:rPr>
              <a:t>add_work.py</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502920" y="2807208"/>
            <a:ext cx="3566160" cy="502920"/>
          </a:xfrm>
          <a:prstGeom prst="rect">
            <a:avLst/>
          </a:prstGeom>
          <a:noFill/>
          <a:ln/>
        </p:spPr>
        <p:txBody>
          <a:bodyPr wrap="square" rtlCol="0" anchor="ctr"/>
          <a:lstStyle/>
          <a:p>
            <a:pPr marL="0" indent="0">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Form nhập liệu thêm công việc mới</a:t>
            </a:r>
            <a:endParaRPr lang="en-US" sz="1200" dirty="0">
              <a:latin typeface="Times New Roman" panose="02020603050405020304" pitchFamily="18" charset="0"/>
              <a:cs typeface="Times New Roman" panose="02020603050405020304" pitchFamily="18" charset="0"/>
            </a:endParaRPr>
          </a:p>
        </p:txBody>
      </p:sp>
      <p:sp>
        <p:nvSpPr>
          <p:cNvPr id="17" name="Shape 15"/>
          <p:cNvSpPr/>
          <p:nvPr/>
        </p:nvSpPr>
        <p:spPr>
          <a:xfrm>
            <a:off x="4709160" y="2331720"/>
            <a:ext cx="3931920" cy="105156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18" name="Shape 16"/>
          <p:cNvSpPr/>
          <p:nvPr/>
        </p:nvSpPr>
        <p:spPr>
          <a:xfrm>
            <a:off x="4709160" y="2331720"/>
            <a:ext cx="64008" cy="1051560"/>
          </a:xfrm>
          <a:prstGeom prst="rect">
            <a:avLst/>
          </a:prstGeom>
          <a:solidFill>
            <a:srgbClr val="B45309"/>
          </a:solidFill>
          <a:ln w="12700">
            <a:solidFill>
              <a:srgbClr val="B45309"/>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9" name="Text 17"/>
          <p:cNvSpPr/>
          <p:nvPr/>
        </p:nvSpPr>
        <p:spPr>
          <a:xfrm>
            <a:off x="4892040" y="2423160"/>
            <a:ext cx="3566160" cy="347472"/>
          </a:xfrm>
          <a:prstGeom prst="rect">
            <a:avLst/>
          </a:prstGeom>
          <a:noFill/>
          <a:ln/>
        </p:spPr>
        <p:txBody>
          <a:bodyPr wrap="square" rtlCol="0" anchor="ctr"/>
          <a:lstStyle/>
          <a:p>
            <a:pPr marL="0" indent="0">
              <a:buNone/>
            </a:pPr>
            <a:r>
              <a:rPr lang="en-US" sz="1400" b="1" dirty="0">
                <a:solidFill>
                  <a:srgbClr val="B45309"/>
                </a:solidFill>
                <a:latin typeface="Times New Roman" panose="02020603050405020304" pitchFamily="18" charset="0"/>
                <a:ea typeface="Consolas" pitchFamily="34" charset="-122"/>
                <a:cs typeface="Times New Roman" panose="02020603050405020304" pitchFamily="18" charset="0"/>
              </a:rPr>
              <a:t>calender.py</a:t>
            </a:r>
            <a:endParaRPr lang="en-US" sz="1400" dirty="0">
              <a:latin typeface="Times New Roman" panose="02020603050405020304" pitchFamily="18" charset="0"/>
              <a:cs typeface="Times New Roman" panose="02020603050405020304" pitchFamily="18" charset="0"/>
            </a:endParaRPr>
          </a:p>
        </p:txBody>
      </p:sp>
      <p:sp>
        <p:nvSpPr>
          <p:cNvPr id="20" name="Text 18"/>
          <p:cNvSpPr/>
          <p:nvPr/>
        </p:nvSpPr>
        <p:spPr>
          <a:xfrm>
            <a:off x="4892040" y="2807208"/>
            <a:ext cx="3566160" cy="502920"/>
          </a:xfrm>
          <a:prstGeom prst="rect">
            <a:avLst/>
          </a:prstGeom>
          <a:noFill/>
          <a:ln/>
        </p:spPr>
        <p:txBody>
          <a:bodyPr wrap="square" rtlCol="0" anchor="ctr"/>
          <a:lstStyle/>
          <a:p>
            <a:pPr marL="0" indent="0">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Dialog calendar picker chọn ngày</a:t>
            </a:r>
            <a:endParaRPr lang="en-US" sz="1200" dirty="0">
              <a:latin typeface="Times New Roman" panose="02020603050405020304" pitchFamily="18" charset="0"/>
              <a:cs typeface="Times New Roman" panose="02020603050405020304" pitchFamily="18" charset="0"/>
            </a:endParaRPr>
          </a:p>
        </p:txBody>
      </p:sp>
      <p:sp>
        <p:nvSpPr>
          <p:cNvPr id="21" name="Shape 19"/>
          <p:cNvSpPr/>
          <p:nvPr/>
        </p:nvSpPr>
        <p:spPr>
          <a:xfrm>
            <a:off x="320040" y="3611880"/>
            <a:ext cx="3931920" cy="105156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2" name="Shape 20"/>
          <p:cNvSpPr/>
          <p:nvPr/>
        </p:nvSpPr>
        <p:spPr>
          <a:xfrm>
            <a:off x="320040" y="3611880"/>
            <a:ext cx="64008" cy="1051560"/>
          </a:xfrm>
          <a:prstGeom prst="rect">
            <a:avLst/>
          </a:prstGeom>
          <a:solidFill>
            <a:srgbClr val="DC2626"/>
          </a:solidFill>
          <a:ln w="12700">
            <a:solidFill>
              <a:srgbClr val="DC2626"/>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3" name="Text 21"/>
          <p:cNvSpPr/>
          <p:nvPr/>
        </p:nvSpPr>
        <p:spPr>
          <a:xfrm>
            <a:off x="502920" y="3703320"/>
            <a:ext cx="3566160" cy="347472"/>
          </a:xfrm>
          <a:prstGeom prst="rect">
            <a:avLst/>
          </a:prstGeom>
          <a:noFill/>
          <a:ln/>
        </p:spPr>
        <p:txBody>
          <a:bodyPr wrap="square" rtlCol="0" anchor="ctr"/>
          <a:lstStyle/>
          <a:p>
            <a:pPr marL="0" indent="0">
              <a:buNone/>
            </a:pPr>
            <a:r>
              <a:rPr lang="en-US" sz="1400" b="1" dirty="0">
                <a:solidFill>
                  <a:srgbClr val="DC2626"/>
                </a:solidFill>
                <a:latin typeface="Times New Roman" panose="02020603050405020304" pitchFamily="18" charset="0"/>
                <a:ea typeface="Consolas" pitchFamily="34" charset="-122"/>
                <a:cs typeface="Times New Roman" panose="02020603050405020304" pitchFamily="18" charset="0"/>
              </a:rPr>
              <a:t>diagram.puml</a:t>
            </a:r>
            <a:endParaRPr lang="en-US" sz="1400" dirty="0">
              <a:latin typeface="Times New Roman" panose="02020603050405020304" pitchFamily="18" charset="0"/>
              <a:cs typeface="Times New Roman" panose="02020603050405020304" pitchFamily="18" charset="0"/>
            </a:endParaRPr>
          </a:p>
        </p:txBody>
      </p:sp>
      <p:sp>
        <p:nvSpPr>
          <p:cNvPr id="24" name="Text 22"/>
          <p:cNvSpPr/>
          <p:nvPr/>
        </p:nvSpPr>
        <p:spPr>
          <a:xfrm>
            <a:off x="502920" y="4087368"/>
            <a:ext cx="3566160" cy="502920"/>
          </a:xfrm>
          <a:prstGeom prst="rect">
            <a:avLst/>
          </a:prstGeom>
          <a:noFill/>
          <a:ln/>
        </p:spPr>
        <p:txBody>
          <a:bodyPr wrap="square" rtlCol="0" anchor="ctr"/>
          <a:lstStyle/>
          <a:p>
            <a:pPr marL="0" indent="0">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Sơ đồ UML PlantUML</a:t>
            </a:r>
            <a:endParaRPr lang="en-US" sz="1200" dirty="0">
              <a:latin typeface="Times New Roman" panose="02020603050405020304" pitchFamily="18" charset="0"/>
              <a:cs typeface="Times New Roman" panose="02020603050405020304" pitchFamily="18" charset="0"/>
            </a:endParaRPr>
          </a:p>
        </p:txBody>
      </p:sp>
      <p:sp>
        <p:nvSpPr>
          <p:cNvPr id="25" name="Shape 23"/>
          <p:cNvSpPr/>
          <p:nvPr/>
        </p:nvSpPr>
        <p:spPr>
          <a:xfrm>
            <a:off x="4709160" y="3611880"/>
            <a:ext cx="3931920" cy="105156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6" name="Shape 24"/>
          <p:cNvSpPr/>
          <p:nvPr/>
        </p:nvSpPr>
        <p:spPr>
          <a:xfrm>
            <a:off x="4709160" y="3611880"/>
            <a:ext cx="64008" cy="1051560"/>
          </a:xfrm>
          <a:prstGeom prst="rect">
            <a:avLst/>
          </a:prstGeom>
          <a:solidFill>
            <a:srgbClr val="059669"/>
          </a:solidFill>
          <a:ln w="12700">
            <a:solidFill>
              <a:srgbClr val="059669"/>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7" name="Text 25"/>
          <p:cNvSpPr/>
          <p:nvPr/>
        </p:nvSpPr>
        <p:spPr>
          <a:xfrm>
            <a:off x="4892040" y="3703320"/>
            <a:ext cx="3566160" cy="347472"/>
          </a:xfrm>
          <a:prstGeom prst="rect">
            <a:avLst/>
          </a:prstGeom>
          <a:noFill/>
          <a:ln/>
        </p:spPr>
        <p:txBody>
          <a:bodyPr wrap="square" rtlCol="0" anchor="ctr"/>
          <a:lstStyle/>
          <a:p>
            <a:pPr marL="0" indent="0">
              <a:buNone/>
            </a:pPr>
            <a:r>
              <a:rPr lang="en-US" sz="1400" b="1" dirty="0">
                <a:solidFill>
                  <a:srgbClr val="059669"/>
                </a:solidFill>
                <a:latin typeface="Times New Roman" panose="02020603050405020304" pitchFamily="18" charset="0"/>
                <a:ea typeface="Consolas" pitchFamily="34" charset="-122"/>
                <a:cs typeface="Times New Roman" panose="02020603050405020304" pitchFamily="18" charset="0"/>
              </a:rPr>
              <a:t>README.md</a:t>
            </a:r>
            <a:endParaRPr lang="en-US" sz="1400" dirty="0">
              <a:latin typeface="Times New Roman" panose="02020603050405020304" pitchFamily="18" charset="0"/>
              <a:cs typeface="Times New Roman" panose="02020603050405020304" pitchFamily="18" charset="0"/>
            </a:endParaRPr>
          </a:p>
        </p:txBody>
      </p:sp>
      <p:sp>
        <p:nvSpPr>
          <p:cNvPr id="28" name="Text 26"/>
          <p:cNvSpPr/>
          <p:nvPr/>
        </p:nvSpPr>
        <p:spPr>
          <a:xfrm>
            <a:off x="4892040" y="4087368"/>
            <a:ext cx="3566160" cy="502920"/>
          </a:xfrm>
          <a:prstGeom prst="rect">
            <a:avLst/>
          </a:prstGeom>
          <a:noFill/>
          <a:ln/>
        </p:spPr>
        <p:txBody>
          <a:bodyPr wrap="square" rtlCol="0" anchor="ctr"/>
          <a:lstStyle/>
          <a:p>
            <a:pPr marL="0" indent="0">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Tài liệu mô tả dự án</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Shape 1"/>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 name="Text 2"/>
          <p:cNvSpPr/>
          <p:nvPr/>
        </p:nvSpPr>
        <p:spPr>
          <a:xfrm>
            <a:off x="274320" y="0"/>
            <a:ext cx="8686800" cy="914400"/>
          </a:xfrm>
          <a:prstGeom prst="rect">
            <a:avLst/>
          </a:prstGeom>
          <a:noFill/>
          <a:ln/>
        </p:spPr>
        <p:txBody>
          <a:bodyPr wrap="square" rtlCol="0" anchor="ctr"/>
          <a:lstStyle/>
          <a:p>
            <a:pPr marL="0" indent="0" algn="l">
              <a:buNone/>
            </a:pPr>
            <a:r>
              <a:rPr lang="en-US" sz="2600" b="1" dirty="0">
                <a:solidFill>
                  <a:srgbClr val="FFFFFF"/>
                </a:solidFill>
                <a:latin typeface="Times New Roman" panose="02020603050405020304" pitchFamily="18" charset="0"/>
                <a:ea typeface="Calibri" pitchFamily="34" charset="-122"/>
                <a:cs typeface="Times New Roman" panose="02020603050405020304" pitchFamily="18" charset="0"/>
              </a:rPr>
              <a:t>Sơ Đồ UML</a:t>
            </a:r>
            <a:endParaRPr lang="en-US" sz="2600" dirty="0">
              <a:latin typeface="Times New Roman" panose="02020603050405020304" pitchFamily="18" charset="0"/>
              <a:cs typeface="Times New Roman" panose="02020603050405020304" pitchFamily="18" charset="0"/>
            </a:endParaRPr>
          </a:p>
        </p:txBody>
      </p:sp>
      <p:sp>
        <p:nvSpPr>
          <p:cNvPr id="5" name="Text 3"/>
          <p:cNvSpPr/>
          <p:nvPr/>
        </p:nvSpPr>
        <p:spPr>
          <a:xfrm>
            <a:off x="320040" y="960120"/>
            <a:ext cx="8503920" cy="320040"/>
          </a:xfrm>
          <a:prstGeom prst="rect">
            <a:avLst/>
          </a:prstGeom>
          <a:noFill/>
          <a:ln/>
        </p:spPr>
        <p:txBody>
          <a:bodyPr wrap="square" rtlCol="0" anchor="ctr"/>
          <a:lstStyle/>
          <a:p>
            <a:pPr marL="0" indent="0" algn="l">
              <a:buNone/>
            </a:pPr>
            <a:r>
              <a:rPr lang="en-US" sz="1300" dirty="0">
                <a:solidFill>
                  <a:srgbClr val="64748B"/>
                </a:solidFill>
                <a:latin typeface="Times New Roman" panose="02020603050405020304" pitchFamily="18" charset="0"/>
                <a:ea typeface="Calibri" pitchFamily="34" charset="-122"/>
                <a:cs typeface="Times New Roman" panose="02020603050405020304" pitchFamily="18" charset="0"/>
              </a:rPr>
              <a:t>Sơ đồ lớp mô tả quan hệ giữa các thành phần chính của ứng dụng</a:t>
            </a:r>
            <a:endParaRPr lang="en-US" sz="1300" dirty="0">
              <a:latin typeface="Times New Roman" panose="02020603050405020304" pitchFamily="18" charset="0"/>
              <a:cs typeface="Times New Roman" panose="02020603050405020304" pitchFamily="18" charset="0"/>
            </a:endParaRPr>
          </a:p>
        </p:txBody>
      </p:sp>
      <p:sp>
        <p:nvSpPr>
          <p:cNvPr id="6" name="Shape 4"/>
          <p:cNvSpPr/>
          <p:nvPr/>
        </p:nvSpPr>
        <p:spPr>
          <a:xfrm>
            <a:off x="320040" y="1325880"/>
            <a:ext cx="8503920" cy="3566160"/>
          </a:xfrm>
          <a:prstGeom prst="rect">
            <a:avLst/>
          </a:prstGeom>
          <a:solidFill>
            <a:srgbClr val="FFFFFF"/>
          </a:solidFill>
          <a:ln w="12700">
            <a:solidFill>
              <a:srgbClr val="E2E8F0"/>
            </a:solidFill>
            <a:prstDash val="solid"/>
          </a:ln>
          <a:effectLst>
            <a:outerShdw blurRad="127000" dist="38100" dir="8100000" algn="bl" rotWithShape="0">
              <a:srgbClr val="000000">
                <a:alpha val="10000"/>
              </a:srgbClr>
            </a:outerShdw>
          </a:effectLst>
        </p:spPr>
        <p:txBody>
          <a:bodyPr/>
          <a:lstStyle/>
          <a:p>
            <a:endParaRPr lang="en-US">
              <a:latin typeface="Times New Roman" panose="02020603050405020304" pitchFamily="18" charset="0"/>
              <a:cs typeface="Times New Roman" panose="02020603050405020304" pitchFamily="18" charset="0"/>
            </a:endParaRPr>
          </a:p>
        </p:txBody>
      </p:sp>
      <p:pic>
        <p:nvPicPr>
          <p:cNvPr id="9" name="Hình ảnh 8">
            <a:extLst>
              <a:ext uri="{FF2B5EF4-FFF2-40B4-BE49-F238E27FC236}">
                <a16:creationId xmlns:a16="http://schemas.microsoft.com/office/drawing/2014/main" id="{FCD20525-CA3C-0518-83BB-E8200BBAA97D}"/>
              </a:ext>
            </a:extLst>
          </p:cNvPr>
          <p:cNvPicPr>
            <a:picLocks noChangeAspect="1"/>
          </p:cNvPicPr>
          <p:nvPr/>
        </p:nvPicPr>
        <p:blipFill>
          <a:blip r:embed="rId3"/>
          <a:stretch>
            <a:fillRect/>
          </a:stretch>
        </p:blipFill>
        <p:spPr>
          <a:xfrm>
            <a:off x="1582614" y="1325879"/>
            <a:ext cx="5198013" cy="35661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Shape 1"/>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 name="Text 2"/>
          <p:cNvSpPr/>
          <p:nvPr/>
        </p:nvSpPr>
        <p:spPr>
          <a:xfrm>
            <a:off x="274320" y="0"/>
            <a:ext cx="8686800" cy="914400"/>
          </a:xfrm>
          <a:prstGeom prst="rect">
            <a:avLst/>
          </a:prstGeom>
          <a:noFill/>
          <a:ln/>
        </p:spPr>
        <p:txBody>
          <a:bodyPr wrap="square" rtlCol="0" anchor="ctr"/>
          <a:lstStyle/>
          <a:p>
            <a:pPr marL="0" indent="0" algn="l">
              <a:buNone/>
            </a:pPr>
            <a:r>
              <a:rPr lang="en-US" sz="2600" b="1" dirty="0">
                <a:solidFill>
                  <a:srgbClr val="FFFFFF"/>
                </a:solidFill>
                <a:latin typeface="Times New Roman" panose="02020603050405020304" pitchFamily="18" charset="0"/>
                <a:ea typeface="Calibri" pitchFamily="34" charset="-122"/>
                <a:cs typeface="Times New Roman" panose="02020603050405020304" pitchFamily="18" charset="0"/>
              </a:rPr>
              <a:t>Cài Đặt và Chạy</a:t>
            </a:r>
            <a:endParaRPr lang="en-US" sz="2600" dirty="0">
              <a:latin typeface="Times New Roman" panose="02020603050405020304" pitchFamily="18" charset="0"/>
              <a:cs typeface="Times New Roman" panose="02020603050405020304" pitchFamily="18" charset="0"/>
            </a:endParaRPr>
          </a:p>
        </p:txBody>
      </p:sp>
      <p:sp>
        <p:nvSpPr>
          <p:cNvPr id="5" name="Shape 3"/>
          <p:cNvSpPr/>
          <p:nvPr/>
        </p:nvSpPr>
        <p:spPr>
          <a:xfrm>
            <a:off x="320040" y="1005840"/>
            <a:ext cx="3840480" cy="182880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6" name="Shape 4"/>
          <p:cNvSpPr/>
          <p:nvPr/>
        </p:nvSpPr>
        <p:spPr>
          <a:xfrm>
            <a:off x="320040" y="1005840"/>
            <a:ext cx="3840480" cy="457200"/>
          </a:xfrm>
          <a:prstGeom prst="rect">
            <a:avLst/>
          </a:prstGeom>
          <a:solidFill>
            <a:srgbClr val="1A2B4A"/>
          </a:solidFill>
          <a:ln w="12700">
            <a:solidFill>
              <a:srgbClr val="1A2B4A"/>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411480" y="1005840"/>
            <a:ext cx="3657600" cy="457200"/>
          </a:xfrm>
          <a:prstGeom prst="rect">
            <a:avLst/>
          </a:prstGeom>
          <a:noFill/>
          <a:ln/>
        </p:spPr>
        <p:txBody>
          <a:bodyPr wrap="square" rtlCol="0" anchor="ctr"/>
          <a:lstStyle/>
          <a:p>
            <a:pPr marL="0" indent="0">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  Yêu Cầu Hệ Thống</a:t>
            </a:r>
            <a:endParaRPr lang="en-US" sz="1300" dirty="0">
              <a:latin typeface="Times New Roman" panose="02020603050405020304" pitchFamily="18" charset="0"/>
              <a:cs typeface="Times New Roman" panose="02020603050405020304" pitchFamily="18" charset="0"/>
            </a:endParaRPr>
          </a:p>
        </p:txBody>
      </p:sp>
      <p:sp>
        <p:nvSpPr>
          <p:cNvPr id="8" name="Text 6"/>
          <p:cNvSpPr/>
          <p:nvPr/>
        </p:nvSpPr>
        <p:spPr>
          <a:xfrm>
            <a:off x="457200" y="1508760"/>
            <a:ext cx="3566160" cy="1188720"/>
          </a:xfrm>
          <a:prstGeom prst="rect">
            <a:avLst/>
          </a:prstGeom>
          <a:noFill/>
          <a:ln/>
        </p:spPr>
        <p:txBody>
          <a:bodyPr wrap="square" rtlCol="0" anchor="ctr"/>
          <a:lstStyle/>
          <a:p>
            <a:pPr marL="0" indent="0">
              <a:buNone/>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 Python 3.x</a:t>
            </a:r>
            <a:endParaRPr lang="en-US" sz="1300" dirty="0">
              <a:latin typeface="Times New Roman" panose="02020603050405020304" pitchFamily="18" charset="0"/>
              <a:cs typeface="Times New Roman" panose="02020603050405020304" pitchFamily="18" charset="0"/>
            </a:endParaRPr>
          </a:p>
          <a:p>
            <a:pPr marL="0" indent="0">
              <a:buNone/>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 tkinter (built-in)</a:t>
            </a:r>
            <a:endParaRPr lang="en-US" sz="1300" dirty="0">
              <a:latin typeface="Times New Roman" panose="02020603050405020304" pitchFamily="18" charset="0"/>
              <a:cs typeface="Times New Roman" panose="02020603050405020304" pitchFamily="18" charset="0"/>
            </a:endParaRPr>
          </a:p>
          <a:p>
            <a:pPr marL="0" indent="0">
              <a:buNone/>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 ttkbootstrap</a:t>
            </a:r>
            <a:endParaRPr lang="en-US" sz="1300" dirty="0">
              <a:latin typeface="Times New Roman" panose="02020603050405020304" pitchFamily="18" charset="0"/>
              <a:cs typeface="Times New Roman" panose="02020603050405020304" pitchFamily="18" charset="0"/>
            </a:endParaRPr>
          </a:p>
          <a:p>
            <a:pPr marL="0" indent="0">
              <a:buNone/>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 windows_toasts</a:t>
            </a:r>
            <a:endParaRPr lang="en-US" sz="1300" dirty="0">
              <a:latin typeface="Times New Roman" panose="02020603050405020304" pitchFamily="18" charset="0"/>
              <a:cs typeface="Times New Roman" panose="02020603050405020304" pitchFamily="18" charset="0"/>
            </a:endParaRPr>
          </a:p>
        </p:txBody>
      </p:sp>
      <p:sp>
        <p:nvSpPr>
          <p:cNvPr id="9" name="Shape 7"/>
          <p:cNvSpPr/>
          <p:nvPr/>
        </p:nvSpPr>
        <p:spPr>
          <a:xfrm>
            <a:off x="4389120" y="1005840"/>
            <a:ext cx="4434840" cy="1828800"/>
          </a:xfrm>
          <a:prstGeom prst="rect">
            <a:avLst/>
          </a:prstGeom>
          <a:solidFill>
            <a:srgbClr val="FFFFFF"/>
          </a:solidFill>
          <a:ln w="12700">
            <a:solidFill>
              <a:srgbClr val="E2E8F0"/>
            </a:solidFill>
            <a:prstDash val="solid"/>
          </a:ln>
          <a:effectLst>
            <a:outerShdw blurRad="76200" dist="12700" dir="8100000" algn="bl" rotWithShape="0">
              <a:srgbClr val="000000">
                <a:alpha val="7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10" name="Shape 8"/>
          <p:cNvSpPr/>
          <p:nvPr/>
        </p:nvSpPr>
        <p:spPr>
          <a:xfrm>
            <a:off x="4389120" y="1005840"/>
            <a:ext cx="4434840" cy="45720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9"/>
          <p:cNvSpPr/>
          <p:nvPr/>
        </p:nvSpPr>
        <p:spPr>
          <a:xfrm>
            <a:off x="4480560" y="1005840"/>
            <a:ext cx="4206240" cy="457200"/>
          </a:xfrm>
          <a:prstGeom prst="rect">
            <a:avLst/>
          </a:prstGeom>
          <a:noFill/>
          <a:ln/>
        </p:spPr>
        <p:txBody>
          <a:bodyPr wrap="square" rtlCol="0" anchor="ctr"/>
          <a:lstStyle/>
          <a:p>
            <a:pPr marL="0" indent="0">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  Các Bước Chạy</a:t>
            </a:r>
            <a:endParaRPr lang="en-US" sz="1300" dirty="0">
              <a:latin typeface="Times New Roman" panose="02020603050405020304" pitchFamily="18" charset="0"/>
              <a:cs typeface="Times New Roman" panose="02020603050405020304" pitchFamily="18" charset="0"/>
            </a:endParaRPr>
          </a:p>
        </p:txBody>
      </p:sp>
      <p:sp>
        <p:nvSpPr>
          <p:cNvPr id="12" name="Shape 10"/>
          <p:cNvSpPr/>
          <p:nvPr/>
        </p:nvSpPr>
        <p:spPr>
          <a:xfrm>
            <a:off x="4526280" y="1572768"/>
            <a:ext cx="320040" cy="320040"/>
          </a:xfrm>
          <a:prstGeom prst="ellipse">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3" name="Text 11"/>
          <p:cNvSpPr/>
          <p:nvPr/>
        </p:nvSpPr>
        <p:spPr>
          <a:xfrm>
            <a:off x="4526280" y="1572768"/>
            <a:ext cx="320040" cy="320040"/>
          </a:xfrm>
          <a:prstGeom prst="rect">
            <a:avLst/>
          </a:prstGeom>
          <a:noFill/>
          <a:ln/>
        </p:spPr>
        <p:txBody>
          <a:bodyPr wrap="square"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1</a:t>
            </a:r>
            <a:endParaRPr lang="en-US" sz="1100" dirty="0">
              <a:latin typeface="Times New Roman" panose="02020603050405020304" pitchFamily="18" charset="0"/>
              <a:cs typeface="Times New Roman" panose="02020603050405020304" pitchFamily="18" charset="0"/>
            </a:endParaRPr>
          </a:p>
        </p:txBody>
      </p:sp>
      <p:sp>
        <p:nvSpPr>
          <p:cNvPr id="14" name="Text 12"/>
          <p:cNvSpPr/>
          <p:nvPr/>
        </p:nvSpPr>
        <p:spPr>
          <a:xfrm>
            <a:off x="4919472" y="1536192"/>
            <a:ext cx="3749040" cy="274320"/>
          </a:xfrm>
          <a:prstGeom prst="rect">
            <a:avLst/>
          </a:prstGeom>
          <a:noFill/>
          <a:ln/>
        </p:spPr>
        <p:txBody>
          <a:bodyPr wrap="square" rtlCol="0" anchor="ctr"/>
          <a:lstStyle/>
          <a:p>
            <a:pPr marL="0" indent="0">
              <a:buNone/>
            </a:pPr>
            <a:r>
              <a:rPr lang="en-US" sz="1250" b="1" dirty="0">
                <a:solidFill>
                  <a:srgbClr val="1E293B"/>
                </a:solidFill>
                <a:latin typeface="Times New Roman" panose="02020603050405020304" pitchFamily="18" charset="0"/>
                <a:ea typeface="Calibri" pitchFamily="34" charset="-122"/>
                <a:cs typeface="Times New Roman" panose="02020603050405020304" pitchFamily="18" charset="0"/>
              </a:rPr>
              <a:t>Cài đặt thư viện:</a:t>
            </a:r>
            <a:endParaRPr lang="en-US" sz="1250" dirty="0">
              <a:latin typeface="Times New Roman" panose="02020603050405020304" pitchFamily="18" charset="0"/>
              <a:cs typeface="Times New Roman" panose="02020603050405020304" pitchFamily="18" charset="0"/>
            </a:endParaRPr>
          </a:p>
        </p:txBody>
      </p:sp>
      <p:sp>
        <p:nvSpPr>
          <p:cNvPr id="15" name="Text 13"/>
          <p:cNvSpPr/>
          <p:nvPr/>
        </p:nvSpPr>
        <p:spPr>
          <a:xfrm>
            <a:off x="4919472" y="1810512"/>
            <a:ext cx="3749040" cy="274320"/>
          </a:xfrm>
          <a:prstGeom prst="rect">
            <a:avLst/>
          </a:prstGeom>
          <a:noFill/>
          <a:ln/>
        </p:spPr>
        <p:txBody>
          <a:bodyPr wrap="square" rtlCol="0" anchor="ctr"/>
          <a:lstStyle/>
          <a:p>
            <a:pPr marL="0" indent="0">
              <a:buNone/>
            </a:pPr>
            <a:r>
              <a:rPr lang="en-US" sz="1100" dirty="0">
                <a:solidFill>
                  <a:srgbClr val="0D9488"/>
                </a:solidFill>
                <a:latin typeface="Times New Roman" panose="02020603050405020304" pitchFamily="18" charset="0"/>
                <a:ea typeface="Consolas" pitchFamily="34" charset="-122"/>
                <a:cs typeface="Times New Roman" panose="02020603050405020304" pitchFamily="18" charset="0"/>
              </a:rPr>
              <a:t>pip install ttkbootstrap windows_toasts</a:t>
            </a:r>
            <a:endParaRPr lang="en-US" sz="1100" dirty="0">
              <a:latin typeface="Times New Roman" panose="02020603050405020304" pitchFamily="18" charset="0"/>
              <a:cs typeface="Times New Roman" panose="02020603050405020304" pitchFamily="18" charset="0"/>
            </a:endParaRPr>
          </a:p>
        </p:txBody>
      </p:sp>
      <p:sp>
        <p:nvSpPr>
          <p:cNvPr id="16" name="Shape 14"/>
          <p:cNvSpPr/>
          <p:nvPr/>
        </p:nvSpPr>
        <p:spPr>
          <a:xfrm>
            <a:off x="4526280" y="2212848"/>
            <a:ext cx="320040" cy="320040"/>
          </a:xfrm>
          <a:prstGeom prst="ellipse">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7" name="Text 15"/>
          <p:cNvSpPr/>
          <p:nvPr/>
        </p:nvSpPr>
        <p:spPr>
          <a:xfrm>
            <a:off x="4526280" y="2212848"/>
            <a:ext cx="320040" cy="320040"/>
          </a:xfrm>
          <a:prstGeom prst="rect">
            <a:avLst/>
          </a:prstGeom>
          <a:noFill/>
          <a:ln/>
        </p:spPr>
        <p:txBody>
          <a:bodyPr wrap="square"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2</a:t>
            </a:r>
            <a:endParaRPr lang="en-US" sz="1100" dirty="0">
              <a:latin typeface="Times New Roman" panose="02020603050405020304" pitchFamily="18" charset="0"/>
              <a:cs typeface="Times New Roman" panose="02020603050405020304" pitchFamily="18" charset="0"/>
            </a:endParaRPr>
          </a:p>
        </p:txBody>
      </p:sp>
      <p:sp>
        <p:nvSpPr>
          <p:cNvPr id="18" name="Text 16"/>
          <p:cNvSpPr/>
          <p:nvPr/>
        </p:nvSpPr>
        <p:spPr>
          <a:xfrm>
            <a:off x="4919472" y="2176272"/>
            <a:ext cx="3749040" cy="274320"/>
          </a:xfrm>
          <a:prstGeom prst="rect">
            <a:avLst/>
          </a:prstGeom>
          <a:noFill/>
          <a:ln/>
        </p:spPr>
        <p:txBody>
          <a:bodyPr wrap="square" rtlCol="0" anchor="ctr"/>
          <a:lstStyle/>
          <a:p>
            <a:pPr marL="0" indent="0">
              <a:buNone/>
            </a:pPr>
            <a:r>
              <a:rPr lang="en-US" sz="1250" b="1" dirty="0">
                <a:solidFill>
                  <a:srgbClr val="1E293B"/>
                </a:solidFill>
                <a:latin typeface="Times New Roman" panose="02020603050405020304" pitchFamily="18" charset="0"/>
                <a:ea typeface="Calibri" pitchFamily="34" charset="-122"/>
                <a:cs typeface="Times New Roman" panose="02020603050405020304" pitchFamily="18" charset="0"/>
              </a:rPr>
              <a:t>Chạy ứng dụng:</a:t>
            </a:r>
            <a:endParaRPr lang="en-US" sz="1250" dirty="0">
              <a:latin typeface="Times New Roman" panose="02020603050405020304" pitchFamily="18" charset="0"/>
              <a:cs typeface="Times New Roman" panose="02020603050405020304" pitchFamily="18" charset="0"/>
            </a:endParaRPr>
          </a:p>
        </p:txBody>
      </p:sp>
      <p:sp>
        <p:nvSpPr>
          <p:cNvPr id="19" name="Text 17"/>
          <p:cNvSpPr/>
          <p:nvPr/>
        </p:nvSpPr>
        <p:spPr>
          <a:xfrm>
            <a:off x="4919472" y="2450592"/>
            <a:ext cx="3749040" cy="274320"/>
          </a:xfrm>
          <a:prstGeom prst="rect">
            <a:avLst/>
          </a:prstGeom>
          <a:noFill/>
          <a:ln/>
        </p:spPr>
        <p:txBody>
          <a:bodyPr wrap="square" rtlCol="0" anchor="ctr"/>
          <a:lstStyle/>
          <a:p>
            <a:pPr marL="0" indent="0">
              <a:buNone/>
            </a:pPr>
            <a:r>
              <a:rPr lang="en-US" sz="1100" dirty="0">
                <a:solidFill>
                  <a:srgbClr val="0D9488"/>
                </a:solidFill>
                <a:latin typeface="Times New Roman" panose="02020603050405020304" pitchFamily="18" charset="0"/>
                <a:ea typeface="Consolas" pitchFamily="34" charset="-122"/>
                <a:cs typeface="Times New Roman" panose="02020603050405020304" pitchFamily="18" charset="0"/>
              </a:rPr>
              <a:t>python main.py</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365760" y="548640"/>
            <a:ext cx="841248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Times New Roman" panose="02020603050405020304" pitchFamily="18" charset="0"/>
                <a:ea typeface="Calibri" pitchFamily="34" charset="-122"/>
                <a:cs typeface="Times New Roman" panose="02020603050405020304" pitchFamily="18" charset="0"/>
              </a:rPr>
              <a:t>Kết Luận</a:t>
            </a:r>
            <a:endParaRPr lang="en-US" sz="3600" dirty="0">
              <a:latin typeface="Times New Roman" panose="02020603050405020304" pitchFamily="18" charset="0"/>
              <a:cs typeface="Times New Roman" panose="02020603050405020304" pitchFamily="18" charset="0"/>
            </a:endParaRPr>
          </a:p>
        </p:txBody>
      </p:sp>
      <p:sp>
        <p:nvSpPr>
          <p:cNvPr id="4" name="Shape 2"/>
          <p:cNvSpPr/>
          <p:nvPr/>
        </p:nvSpPr>
        <p:spPr>
          <a:xfrm>
            <a:off x="365760" y="1261872"/>
            <a:ext cx="1371600" cy="54864"/>
          </a:xfrm>
          <a:prstGeom prst="rect">
            <a:avLst/>
          </a:prstGeom>
          <a:solidFill>
            <a:srgbClr val="0D9488"/>
          </a:solidFill>
          <a:ln w="12700">
            <a:solidFill>
              <a:srgbClr val="0D948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365760" y="1463040"/>
            <a:ext cx="8412480" cy="713232"/>
          </a:xfrm>
          <a:prstGeom prst="rect">
            <a:avLst/>
          </a:prstGeom>
          <a:solidFill>
            <a:srgbClr val="FFFFFF">
              <a:alpha val="10000"/>
            </a:srgbClr>
          </a:solidFill>
          <a:ln w="12700">
            <a:solidFill>
              <a:srgbClr val="FFFFFF">
                <a:alpha val="20000"/>
              </a:srgbClr>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 name="Text 4"/>
          <p:cNvSpPr/>
          <p:nvPr/>
        </p:nvSpPr>
        <p:spPr>
          <a:xfrm>
            <a:off x="457200" y="1508760"/>
            <a:ext cx="502920" cy="502920"/>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1005840" y="1508760"/>
            <a:ext cx="7498080" cy="502920"/>
          </a:xfrm>
          <a:prstGeom prst="rect">
            <a:avLst/>
          </a:prstGeom>
          <a:noFill/>
          <a:ln/>
        </p:spPr>
        <p:txBody>
          <a:bodyPr wrap="square" rtlCol="0" anchor="ctr"/>
          <a:lstStyle/>
          <a:p>
            <a:pPr marL="0" indent="0">
              <a:buNone/>
            </a:pPr>
            <a:r>
              <a:rPr lang="en-US" sz="1450" dirty="0">
                <a:solidFill>
                  <a:srgbClr val="FFFFFF"/>
                </a:solidFill>
                <a:latin typeface="Times New Roman" panose="02020603050405020304" pitchFamily="18" charset="0"/>
                <a:ea typeface="Calibri" pitchFamily="34" charset="-122"/>
                <a:cs typeface="Times New Roman" panose="02020603050405020304" pitchFamily="18" charset="0"/>
              </a:rPr>
              <a:t>Ứng dụng quản lý công việc đơn giản, hiệu quả với Python và SQLite</a:t>
            </a:r>
            <a:endParaRPr lang="en-US" sz="1450" dirty="0">
              <a:latin typeface="Times New Roman" panose="02020603050405020304" pitchFamily="18" charset="0"/>
              <a:cs typeface="Times New Roman" panose="02020603050405020304" pitchFamily="18" charset="0"/>
            </a:endParaRPr>
          </a:p>
        </p:txBody>
      </p:sp>
      <p:sp>
        <p:nvSpPr>
          <p:cNvPr id="8" name="Shape 6"/>
          <p:cNvSpPr/>
          <p:nvPr/>
        </p:nvSpPr>
        <p:spPr>
          <a:xfrm>
            <a:off x="365760" y="2304288"/>
            <a:ext cx="8412480" cy="713232"/>
          </a:xfrm>
          <a:prstGeom prst="rect">
            <a:avLst/>
          </a:prstGeom>
          <a:solidFill>
            <a:srgbClr val="FFFFFF">
              <a:alpha val="10000"/>
            </a:srgbClr>
          </a:solidFill>
          <a:ln w="12700">
            <a:solidFill>
              <a:srgbClr val="FFFFFF">
                <a:alpha val="20000"/>
              </a:srgbClr>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Text 7"/>
          <p:cNvSpPr/>
          <p:nvPr/>
        </p:nvSpPr>
        <p:spPr>
          <a:xfrm>
            <a:off x="457200" y="2350008"/>
            <a:ext cx="502920" cy="502920"/>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1005840" y="2350008"/>
            <a:ext cx="7498080" cy="502920"/>
          </a:xfrm>
          <a:prstGeom prst="rect">
            <a:avLst/>
          </a:prstGeom>
          <a:noFill/>
          <a:ln/>
        </p:spPr>
        <p:txBody>
          <a:bodyPr wrap="square" rtlCol="0" anchor="ctr"/>
          <a:lstStyle/>
          <a:p>
            <a:pPr marL="0" indent="0">
              <a:buNone/>
            </a:pPr>
            <a:r>
              <a:rPr lang="en-US" sz="1450" dirty="0">
                <a:solidFill>
                  <a:srgbClr val="FFFFFF"/>
                </a:solidFill>
                <a:latin typeface="Times New Roman" panose="02020603050405020304" pitchFamily="18" charset="0"/>
                <a:ea typeface="Calibri" pitchFamily="34" charset="-122"/>
                <a:cs typeface="Times New Roman" panose="02020603050405020304" pitchFamily="18" charset="0"/>
              </a:rPr>
              <a:t>Giao diện thân thiện, hiện đại nhờ ttkbootstrap</a:t>
            </a:r>
            <a:endParaRPr lang="en-US" sz="1450" dirty="0">
              <a:latin typeface="Times New Roman" panose="02020603050405020304" pitchFamily="18" charset="0"/>
              <a:cs typeface="Times New Roman" panose="02020603050405020304" pitchFamily="18" charset="0"/>
            </a:endParaRPr>
          </a:p>
        </p:txBody>
      </p:sp>
      <p:sp>
        <p:nvSpPr>
          <p:cNvPr id="11" name="Shape 9"/>
          <p:cNvSpPr/>
          <p:nvPr/>
        </p:nvSpPr>
        <p:spPr>
          <a:xfrm>
            <a:off x="365760" y="3145536"/>
            <a:ext cx="8412480" cy="713232"/>
          </a:xfrm>
          <a:prstGeom prst="rect">
            <a:avLst/>
          </a:prstGeom>
          <a:solidFill>
            <a:srgbClr val="FFFFFF">
              <a:alpha val="10000"/>
            </a:srgbClr>
          </a:solidFill>
          <a:ln w="12700">
            <a:solidFill>
              <a:srgbClr val="FFFFFF">
                <a:alpha val="20000"/>
              </a:srgbClr>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10"/>
          <p:cNvSpPr/>
          <p:nvPr/>
        </p:nvSpPr>
        <p:spPr>
          <a:xfrm>
            <a:off x="457200" y="3191256"/>
            <a:ext cx="502920" cy="502920"/>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1005840" y="3191256"/>
            <a:ext cx="7498080" cy="502920"/>
          </a:xfrm>
          <a:prstGeom prst="rect">
            <a:avLst/>
          </a:prstGeom>
          <a:noFill/>
          <a:ln/>
        </p:spPr>
        <p:txBody>
          <a:bodyPr wrap="square" rtlCol="0" anchor="ctr"/>
          <a:lstStyle/>
          <a:p>
            <a:pPr marL="0" indent="0">
              <a:buNone/>
            </a:pPr>
            <a:r>
              <a:rPr lang="en-US" sz="1450" dirty="0">
                <a:solidFill>
                  <a:srgbClr val="FFFFFF"/>
                </a:solidFill>
                <a:latin typeface="Times New Roman" panose="02020603050405020304" pitchFamily="18" charset="0"/>
                <a:ea typeface="Calibri" pitchFamily="34" charset="-122"/>
                <a:cs typeface="Times New Roman" panose="02020603050405020304" pitchFamily="18" charset="0"/>
              </a:rPr>
              <a:t>Kiến trúc module hoá dễ bảo trì và mở rộng</a:t>
            </a:r>
            <a:endParaRPr lang="en-US" sz="1450" dirty="0">
              <a:latin typeface="Times New Roman" panose="02020603050405020304" pitchFamily="18" charset="0"/>
              <a:cs typeface="Times New Roman" panose="02020603050405020304" pitchFamily="18" charset="0"/>
            </a:endParaRPr>
          </a:p>
        </p:txBody>
      </p:sp>
      <p:sp>
        <p:nvSpPr>
          <p:cNvPr id="14" name="Shape 12"/>
          <p:cNvSpPr/>
          <p:nvPr/>
        </p:nvSpPr>
        <p:spPr>
          <a:xfrm>
            <a:off x="365760" y="3986784"/>
            <a:ext cx="8412480" cy="713232"/>
          </a:xfrm>
          <a:prstGeom prst="rect">
            <a:avLst/>
          </a:prstGeom>
          <a:solidFill>
            <a:srgbClr val="FFFFFF">
              <a:alpha val="10000"/>
            </a:srgbClr>
          </a:solidFill>
          <a:ln w="12700">
            <a:solidFill>
              <a:srgbClr val="FFFFFF">
                <a:alpha val="20000"/>
              </a:srgbClr>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5" name="Text 13"/>
          <p:cNvSpPr/>
          <p:nvPr/>
        </p:nvSpPr>
        <p:spPr>
          <a:xfrm>
            <a:off x="457200" y="4032504"/>
            <a:ext cx="502920" cy="502920"/>
          </a:xfrm>
          <a:prstGeom prst="rect">
            <a:avLst/>
          </a:prstGeom>
          <a:noFill/>
          <a:ln/>
        </p:spPr>
        <p:txBody>
          <a:bodyPr wrap="square" rtlCol="0" anchor="ctr"/>
          <a:lstStyle/>
          <a:p>
            <a:pPr marL="0" indent="0" algn="ctr">
              <a:buNone/>
            </a:pPr>
            <a:r>
              <a:rPr lang="en-US" sz="2000" dirty="0">
                <a:solidFill>
                  <a:srgbClr val="00000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1005840" y="4032504"/>
            <a:ext cx="7498080" cy="502920"/>
          </a:xfrm>
          <a:prstGeom prst="rect">
            <a:avLst/>
          </a:prstGeom>
          <a:noFill/>
          <a:ln/>
        </p:spPr>
        <p:txBody>
          <a:bodyPr wrap="square" rtlCol="0" anchor="ctr"/>
          <a:lstStyle/>
          <a:p>
            <a:pPr marL="0" indent="0">
              <a:buNone/>
            </a:pPr>
            <a:r>
              <a:rPr lang="en-US" sz="1450" dirty="0">
                <a:solidFill>
                  <a:srgbClr val="FFFFFF"/>
                </a:solidFill>
                <a:latin typeface="Times New Roman" panose="02020603050405020304" pitchFamily="18" charset="0"/>
                <a:ea typeface="Calibri" pitchFamily="34" charset="-122"/>
                <a:cs typeface="Times New Roman" panose="02020603050405020304" pitchFamily="18" charset="0"/>
              </a:rPr>
              <a:t>Tiềm năng mở rộng: đồng bộ đám mây, đa nền tảng</a:t>
            </a:r>
            <a:endParaRPr lang="en-US" sz="145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393</Words>
  <Application>Microsoft Office PowerPoint</Application>
  <PresentationFormat>Trình chiếu Trên màn hình (16:9)</PresentationFormat>
  <Paragraphs>81</Paragraphs>
  <Slides>7</Slides>
  <Notes>7</Notes>
  <HiddenSlides>0</HiddenSlides>
  <MMClips>0</MMClips>
  <ScaleCrop>false</ScaleCrop>
  <HeadingPairs>
    <vt:vector size="6" baseType="variant">
      <vt:variant>
        <vt:lpstr>Phông được Dùng</vt:lpstr>
      </vt:variant>
      <vt:variant>
        <vt:i4>2</vt:i4>
      </vt:variant>
      <vt:variant>
        <vt:lpstr>Chủ đề</vt:lpstr>
      </vt:variant>
      <vt:variant>
        <vt:i4>1</vt:i4>
      </vt:variant>
      <vt:variant>
        <vt:lpstr>Tiêu đề Bản chiếu</vt:lpstr>
      </vt:variant>
      <vt:variant>
        <vt:i4>7</vt:i4>
      </vt:variant>
    </vt:vector>
  </HeadingPairs>
  <TitlesOfParts>
    <vt:vector size="10" baseType="lpstr">
      <vt:lpstr>Arial</vt:lpstr>
      <vt:lpstr>Times New Roman</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Lý Công Việc Chuyên Nghiệp</dc:title>
  <dc:subject>PptxGenJS Presentation</dc:subject>
  <dc:creator>PptxGenJS</dc:creator>
  <cp:lastModifiedBy>luong nguyen ba</cp:lastModifiedBy>
  <cp:revision>3</cp:revision>
  <dcterms:created xsi:type="dcterms:W3CDTF">2026-04-24T11:14:53Z</dcterms:created>
  <dcterms:modified xsi:type="dcterms:W3CDTF">2026-04-24T11:19:07Z</dcterms:modified>
</cp:coreProperties>
</file>